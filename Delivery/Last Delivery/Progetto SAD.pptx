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8288000" cy="10287000"/>
  <p:notesSz cx="6858000" cy="9144000"/>
  <p:embeddedFontLst>
    <p:embeddedFont>
      <p:font typeface="Poppins Bold" charset="1" panose="00000800000000000000"/>
      <p:regular r:id="rId28"/>
    </p:embeddedFont>
    <p:embeddedFont>
      <p:font typeface="Nunito Sans Condensed" charset="1" panose="00000000000000000000"/>
      <p:regular r:id="rId29"/>
    </p:embeddedFont>
    <p:embeddedFont>
      <p:font typeface="Nunito Sans" charset="1" panose="00000000000000000000"/>
      <p:regular r:id="rId30"/>
    </p:embeddedFont>
    <p:embeddedFont>
      <p:font typeface="Open Sans Bold" charset="1" panose="020B0806030504020204"/>
      <p:regular r:id="rId31"/>
    </p:embeddedFont>
    <p:embeddedFont>
      <p:font typeface="Open Sans" charset="1" panose="020B0606030504020204"/>
      <p:regular r:id="rId32"/>
    </p:embeddedFont>
    <p:embeddedFont>
      <p:font typeface="VAG Rounded Next Shine" charset="1" panose="04020805020F02030202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.png" Type="http://schemas.openxmlformats.org/officeDocument/2006/relationships/image"/><Relationship Id="rId11" Target="../media/image2.svg" Type="http://schemas.openxmlformats.org/officeDocument/2006/relationships/image"/><Relationship Id="rId12" Target="../media/image14.png" Type="http://schemas.openxmlformats.org/officeDocument/2006/relationships/image"/><Relationship Id="rId13" Target="../media/image15.svg" Type="http://schemas.openxmlformats.org/officeDocument/2006/relationships/image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8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9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0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2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3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4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png" Type="http://schemas.openxmlformats.org/officeDocument/2006/relationships/image"/><Relationship Id="rId11" Target="../media/image30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Relationship Id="rId8" Target="../media/image27.png" Type="http://schemas.openxmlformats.org/officeDocument/2006/relationships/image"/><Relationship Id="rId9" Target="../media/image28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31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svg" Type="http://schemas.openxmlformats.org/officeDocument/2006/relationships/image"/><Relationship Id="rId11" Target="../media/image36.png" Type="http://schemas.openxmlformats.org/officeDocument/2006/relationships/image"/><Relationship Id="rId12" Target="../media/image37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31.png" Type="http://schemas.openxmlformats.org/officeDocument/2006/relationships/image"/><Relationship Id="rId7" Target="../media/image32.png" Type="http://schemas.openxmlformats.org/officeDocument/2006/relationships/image"/><Relationship Id="rId8" Target="../media/image33.svg" Type="http://schemas.openxmlformats.org/officeDocument/2006/relationships/image"/><Relationship Id="rId9" Target="../media/image34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38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39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40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1926184">
            <a:off x="11324747" y="3881531"/>
            <a:ext cx="11670605" cy="6726512"/>
          </a:xfrm>
          <a:custGeom>
            <a:avLst/>
            <a:gdLst/>
            <a:ahLst/>
            <a:cxnLst/>
            <a:rect r="r" b="b" t="t" l="l"/>
            <a:pathLst>
              <a:path h="6726512" w="11670605">
                <a:moveTo>
                  <a:pt x="11670605" y="6726512"/>
                </a:moveTo>
                <a:lnTo>
                  <a:pt x="0" y="6726512"/>
                </a:lnTo>
                <a:lnTo>
                  <a:pt x="0" y="0"/>
                </a:lnTo>
                <a:lnTo>
                  <a:pt x="11670605" y="0"/>
                </a:lnTo>
                <a:lnTo>
                  <a:pt x="11670605" y="672651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217787">
            <a:off x="-4076239" y="-3363256"/>
            <a:ext cx="11670605" cy="6726512"/>
          </a:xfrm>
          <a:custGeom>
            <a:avLst/>
            <a:gdLst/>
            <a:ahLst/>
            <a:cxnLst/>
            <a:rect r="r" b="b" t="t" l="l"/>
            <a:pathLst>
              <a:path h="6726512" w="11670605">
                <a:moveTo>
                  <a:pt x="11670605" y="6726512"/>
                </a:moveTo>
                <a:lnTo>
                  <a:pt x="0" y="6726512"/>
                </a:lnTo>
                <a:lnTo>
                  <a:pt x="0" y="0"/>
                </a:lnTo>
                <a:lnTo>
                  <a:pt x="11670605" y="0"/>
                </a:lnTo>
                <a:lnTo>
                  <a:pt x="11670605" y="672651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277459" y="5512540"/>
            <a:ext cx="5516300" cy="5526535"/>
          </a:xfrm>
          <a:custGeom>
            <a:avLst/>
            <a:gdLst/>
            <a:ahLst/>
            <a:cxnLst/>
            <a:rect r="r" b="b" t="t" l="l"/>
            <a:pathLst>
              <a:path h="5526535" w="5516300">
                <a:moveTo>
                  <a:pt x="0" y="0"/>
                </a:moveTo>
                <a:lnTo>
                  <a:pt x="5516300" y="0"/>
                </a:lnTo>
                <a:lnTo>
                  <a:pt x="5516300" y="5526535"/>
                </a:lnTo>
                <a:lnTo>
                  <a:pt x="0" y="55265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886326" y="-1468609"/>
            <a:ext cx="5516300" cy="5526535"/>
          </a:xfrm>
          <a:custGeom>
            <a:avLst/>
            <a:gdLst/>
            <a:ahLst/>
            <a:cxnLst/>
            <a:rect r="r" b="b" t="t" l="l"/>
            <a:pathLst>
              <a:path h="5526535" w="5516300">
                <a:moveTo>
                  <a:pt x="0" y="0"/>
                </a:moveTo>
                <a:lnTo>
                  <a:pt x="5516301" y="0"/>
                </a:lnTo>
                <a:lnTo>
                  <a:pt x="5516301" y="5526534"/>
                </a:lnTo>
                <a:lnTo>
                  <a:pt x="0" y="55265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441740" y="4835552"/>
            <a:ext cx="4444587" cy="5168124"/>
          </a:xfrm>
          <a:custGeom>
            <a:avLst/>
            <a:gdLst/>
            <a:ahLst/>
            <a:cxnLst/>
            <a:rect r="r" b="b" t="t" l="l"/>
            <a:pathLst>
              <a:path h="5168124" w="4444587">
                <a:moveTo>
                  <a:pt x="0" y="0"/>
                </a:moveTo>
                <a:lnTo>
                  <a:pt x="4444586" y="0"/>
                </a:lnTo>
                <a:lnTo>
                  <a:pt x="4444586" y="5168124"/>
                </a:lnTo>
                <a:lnTo>
                  <a:pt x="0" y="51681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488360" y="2415392"/>
            <a:ext cx="11148448" cy="5346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b="true" sz="9999">
                <a:solidFill>
                  <a:srgbClr val="335472"/>
                </a:solidFill>
                <a:latin typeface="Poppins Bold"/>
                <a:ea typeface="Poppins Bold"/>
                <a:cs typeface="Poppins Bold"/>
                <a:sym typeface="Poppins Bold"/>
              </a:rPr>
              <a:t>SVILUPPO DI UN PLAYER MUSICALE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609249" y="7695417"/>
            <a:ext cx="678071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33547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Last Sprint Release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608321" y="781209"/>
            <a:ext cx="2278006" cy="447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2"/>
              </a:lnSpc>
              <a:spcBef>
                <a:spcPct val="0"/>
              </a:spcBef>
            </a:pPr>
            <a:r>
              <a:rPr lang="en-US" sz="2637">
                <a:solidFill>
                  <a:srgbClr val="335472"/>
                </a:solidFill>
                <a:latin typeface="Nunito Sans"/>
                <a:ea typeface="Nunito Sans"/>
                <a:cs typeface="Nunito Sans"/>
                <a:sym typeface="Nunito Sans"/>
              </a:rPr>
              <a:t>Gruppo 01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1926184">
            <a:off x="11324747" y="3881531"/>
            <a:ext cx="11670605" cy="6726512"/>
          </a:xfrm>
          <a:custGeom>
            <a:avLst/>
            <a:gdLst/>
            <a:ahLst/>
            <a:cxnLst/>
            <a:rect r="r" b="b" t="t" l="l"/>
            <a:pathLst>
              <a:path h="6726512" w="11670605">
                <a:moveTo>
                  <a:pt x="11670605" y="6726512"/>
                </a:moveTo>
                <a:lnTo>
                  <a:pt x="0" y="6726512"/>
                </a:lnTo>
                <a:lnTo>
                  <a:pt x="0" y="0"/>
                </a:lnTo>
                <a:lnTo>
                  <a:pt x="11670605" y="0"/>
                </a:lnTo>
                <a:lnTo>
                  <a:pt x="11670605" y="672651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217787">
            <a:off x="-4076239" y="-3363256"/>
            <a:ext cx="11670605" cy="6726512"/>
          </a:xfrm>
          <a:custGeom>
            <a:avLst/>
            <a:gdLst/>
            <a:ahLst/>
            <a:cxnLst/>
            <a:rect r="r" b="b" t="t" l="l"/>
            <a:pathLst>
              <a:path h="6726512" w="11670605">
                <a:moveTo>
                  <a:pt x="11670605" y="6726512"/>
                </a:moveTo>
                <a:lnTo>
                  <a:pt x="0" y="6726512"/>
                </a:lnTo>
                <a:lnTo>
                  <a:pt x="0" y="0"/>
                </a:lnTo>
                <a:lnTo>
                  <a:pt x="11670605" y="0"/>
                </a:lnTo>
                <a:lnTo>
                  <a:pt x="11670605" y="672651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277459" y="5512540"/>
            <a:ext cx="5516300" cy="5526535"/>
          </a:xfrm>
          <a:custGeom>
            <a:avLst/>
            <a:gdLst/>
            <a:ahLst/>
            <a:cxnLst/>
            <a:rect r="r" b="b" t="t" l="l"/>
            <a:pathLst>
              <a:path h="5526535" w="5516300">
                <a:moveTo>
                  <a:pt x="0" y="0"/>
                </a:moveTo>
                <a:lnTo>
                  <a:pt x="5516300" y="0"/>
                </a:lnTo>
                <a:lnTo>
                  <a:pt x="5516300" y="5526535"/>
                </a:lnTo>
                <a:lnTo>
                  <a:pt x="0" y="55265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886326" y="-1468609"/>
            <a:ext cx="5516300" cy="5526535"/>
          </a:xfrm>
          <a:custGeom>
            <a:avLst/>
            <a:gdLst/>
            <a:ahLst/>
            <a:cxnLst/>
            <a:rect r="r" b="b" t="t" l="l"/>
            <a:pathLst>
              <a:path h="5526535" w="5516300">
                <a:moveTo>
                  <a:pt x="0" y="0"/>
                </a:moveTo>
                <a:lnTo>
                  <a:pt x="5516301" y="0"/>
                </a:lnTo>
                <a:lnTo>
                  <a:pt x="5516301" y="5526534"/>
                </a:lnTo>
                <a:lnTo>
                  <a:pt x="0" y="55265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46271" y="231033"/>
            <a:ext cx="5786868" cy="196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0"/>
              </a:lnSpc>
            </a:pPr>
            <a:r>
              <a:rPr lang="en-US" b="true" sz="5500">
                <a:solidFill>
                  <a:srgbClr val="335472"/>
                </a:solidFill>
                <a:latin typeface="Poppins Bold"/>
                <a:ea typeface="Poppins Bold"/>
                <a:cs typeface="Poppins Bold"/>
                <a:sym typeface="Poppins Bold"/>
              </a:rPr>
              <a:t>USER STORIES</a:t>
            </a:r>
          </a:p>
          <a:p>
            <a:pPr algn="ctr">
              <a:lnSpc>
                <a:spcPts val="7700"/>
              </a:lnSpc>
            </a:pPr>
            <a:r>
              <a:rPr lang="en-US" b="true" sz="5500">
                <a:solidFill>
                  <a:srgbClr val="335472"/>
                </a:solidFill>
                <a:latin typeface="Poppins Bold"/>
                <a:ea typeface="Poppins Bold"/>
                <a:cs typeface="Poppins Bold"/>
                <a:sym typeface="Poppins Bold"/>
              </a:rPr>
              <a:t>ATTESE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46271" y="3116117"/>
            <a:ext cx="5786868" cy="4182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7888" indent="-318944" lvl="1">
              <a:lnSpc>
                <a:spcPts val="4136"/>
              </a:lnSpc>
              <a:buFont typeface="Arial"/>
              <a:buChar char="•"/>
            </a:pPr>
            <a:r>
              <a:rPr lang="en-US" sz="2954">
                <a:solidFill>
                  <a:srgbClr val="33547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US-21 Canzoni più ascoltate</a:t>
            </a:r>
          </a:p>
          <a:p>
            <a:pPr algn="l" marL="637888" indent="-318944" lvl="1">
              <a:lnSpc>
                <a:spcPts val="4136"/>
              </a:lnSpc>
              <a:buFont typeface="Arial"/>
              <a:buChar char="•"/>
            </a:pPr>
            <a:r>
              <a:rPr lang="en-US" sz="2954">
                <a:solidFill>
                  <a:srgbClr val="33547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US-10 Salvataggio dati</a:t>
            </a:r>
          </a:p>
          <a:p>
            <a:pPr algn="l" marL="637888" indent="-318944" lvl="1">
              <a:lnSpc>
                <a:spcPts val="4136"/>
              </a:lnSpc>
              <a:buFont typeface="Arial"/>
              <a:buChar char="•"/>
            </a:pPr>
            <a:r>
              <a:rPr lang="en-US" sz="2954">
                <a:solidFill>
                  <a:srgbClr val="33547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US-23 Modifica ordine tracce</a:t>
            </a:r>
          </a:p>
          <a:p>
            <a:pPr algn="l" marL="637888" indent="-318944" lvl="1">
              <a:lnSpc>
                <a:spcPts val="4136"/>
              </a:lnSpc>
              <a:buFont typeface="Arial"/>
              <a:buChar char="•"/>
            </a:pPr>
            <a:r>
              <a:rPr lang="en-US" sz="2954">
                <a:solidFill>
                  <a:srgbClr val="33547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US-20 Generazione automatica di Playlist</a:t>
            </a:r>
          </a:p>
          <a:p>
            <a:pPr algn="l" marL="637888" indent="-318944" lvl="1">
              <a:lnSpc>
                <a:spcPts val="4136"/>
              </a:lnSpc>
              <a:buFont typeface="Arial"/>
              <a:buChar char="•"/>
            </a:pPr>
            <a:r>
              <a:rPr lang="en-US" sz="2954">
                <a:solidFill>
                  <a:srgbClr val="33547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US-17 Visualizzazione grafica di riproduzione</a:t>
            </a:r>
          </a:p>
          <a:p>
            <a:pPr algn="l" marL="637888" indent="-318944" lvl="1">
              <a:lnSpc>
                <a:spcPts val="4136"/>
              </a:lnSpc>
              <a:buFont typeface="Arial"/>
              <a:buChar char="•"/>
            </a:pPr>
            <a:r>
              <a:rPr lang="en-US" sz="2954">
                <a:solidFill>
                  <a:srgbClr val="33547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US-24 Ricerca Canzoni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425935" y="231033"/>
            <a:ext cx="5786868" cy="196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0"/>
              </a:lnSpc>
            </a:pPr>
            <a:r>
              <a:rPr lang="en-US" b="true" sz="5500">
                <a:solidFill>
                  <a:srgbClr val="335472"/>
                </a:solidFill>
                <a:latin typeface="Poppins Bold"/>
                <a:ea typeface="Poppins Bold"/>
                <a:cs typeface="Poppins Bold"/>
                <a:sym typeface="Poppins Bold"/>
              </a:rPr>
              <a:t>USER STORIES </a:t>
            </a:r>
          </a:p>
          <a:p>
            <a:pPr algn="ctr">
              <a:lnSpc>
                <a:spcPts val="7700"/>
              </a:lnSpc>
            </a:pPr>
            <a:r>
              <a:rPr lang="en-US" b="true" sz="5500">
                <a:solidFill>
                  <a:srgbClr val="335472"/>
                </a:solidFill>
                <a:latin typeface="Poppins Bold"/>
                <a:ea typeface="Poppins Bold"/>
                <a:cs typeface="Poppins Bold"/>
                <a:sym typeface="Poppins Bold"/>
              </a:rPr>
              <a:t>COMPLETATE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909414" y="716808"/>
            <a:ext cx="1954546" cy="99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0"/>
              </a:lnSpc>
            </a:pPr>
            <a:r>
              <a:rPr lang="en-US" b="true" sz="5500">
                <a:solidFill>
                  <a:srgbClr val="335472"/>
                </a:solidFill>
                <a:latin typeface="Poppins Bold"/>
                <a:ea typeface="Poppins Bold"/>
                <a:cs typeface="Poppins Bold"/>
                <a:sym typeface="Poppins Bold"/>
              </a:rPr>
              <a:t>VS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42633" y="8199608"/>
            <a:ext cx="3445045" cy="44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5"/>
              </a:lnSpc>
              <a:spcBef>
                <a:spcPct val="0"/>
              </a:spcBef>
            </a:pPr>
            <a:r>
              <a:rPr lang="en-US" b="true" sz="2432">
                <a:solidFill>
                  <a:srgbClr val="335472"/>
                </a:solidFill>
                <a:latin typeface="Poppins Bold"/>
                <a:ea typeface="Poppins Bold"/>
                <a:cs typeface="Poppins Bold"/>
                <a:sym typeface="Poppins Bold"/>
              </a:rPr>
              <a:t>VELOCITÀ STIMATA:38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631927" y="8199608"/>
            <a:ext cx="3681704" cy="44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5"/>
              </a:lnSpc>
              <a:spcBef>
                <a:spcPct val="0"/>
              </a:spcBef>
            </a:pPr>
            <a:r>
              <a:rPr lang="en-US" b="true" sz="2432">
                <a:solidFill>
                  <a:srgbClr val="335472"/>
                </a:solidFill>
                <a:latin typeface="Poppins Bold"/>
                <a:ea typeface="Poppins Bold"/>
                <a:cs typeface="Poppins Bold"/>
                <a:sym typeface="Poppins Bold"/>
              </a:rPr>
              <a:t>VELOCITÀ MISURATA:38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801711" y="2853575"/>
            <a:ext cx="5786868" cy="4707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7888" indent="-318944" lvl="1">
              <a:lnSpc>
                <a:spcPts val="4136"/>
              </a:lnSpc>
              <a:buFont typeface="Arial"/>
              <a:buChar char="•"/>
            </a:pPr>
            <a:r>
              <a:rPr lang="en-US" sz="2954">
                <a:solidFill>
                  <a:srgbClr val="33547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US-21 Canzoni più ascoltate</a:t>
            </a:r>
          </a:p>
          <a:p>
            <a:pPr algn="l" marL="637888" indent="-318944" lvl="1">
              <a:lnSpc>
                <a:spcPts val="4136"/>
              </a:lnSpc>
              <a:buFont typeface="Arial"/>
              <a:buChar char="•"/>
            </a:pPr>
            <a:r>
              <a:rPr lang="en-US" sz="2954">
                <a:solidFill>
                  <a:srgbClr val="33547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US-10 Salvataggio dati</a:t>
            </a:r>
          </a:p>
          <a:p>
            <a:pPr algn="l" marL="637888" indent="-318944" lvl="1">
              <a:lnSpc>
                <a:spcPts val="4136"/>
              </a:lnSpc>
              <a:buFont typeface="Arial"/>
              <a:buChar char="•"/>
            </a:pPr>
            <a:r>
              <a:rPr lang="en-US" sz="2954">
                <a:solidFill>
                  <a:srgbClr val="33547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US-23 Modifica ordine tracce</a:t>
            </a:r>
          </a:p>
          <a:p>
            <a:pPr algn="l" marL="637888" indent="-318944" lvl="1">
              <a:lnSpc>
                <a:spcPts val="4136"/>
              </a:lnSpc>
              <a:buFont typeface="Arial"/>
              <a:buChar char="•"/>
            </a:pPr>
            <a:r>
              <a:rPr lang="en-US" sz="2954">
                <a:solidFill>
                  <a:srgbClr val="33547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US-20 Generazione automatica di Playlist</a:t>
            </a:r>
          </a:p>
          <a:p>
            <a:pPr algn="l" marL="637888" indent="-318944" lvl="1">
              <a:lnSpc>
                <a:spcPts val="4136"/>
              </a:lnSpc>
              <a:buFont typeface="Arial"/>
              <a:buChar char="•"/>
            </a:pPr>
            <a:r>
              <a:rPr lang="en-US" sz="2954">
                <a:solidFill>
                  <a:srgbClr val="33547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US-17 Visualizzazione grafica di riproduzione</a:t>
            </a:r>
          </a:p>
          <a:p>
            <a:pPr algn="l" marL="637888" indent="-318944" lvl="1">
              <a:lnSpc>
                <a:spcPts val="4136"/>
              </a:lnSpc>
              <a:buFont typeface="Arial"/>
              <a:buChar char="•"/>
            </a:pPr>
            <a:r>
              <a:rPr lang="en-US" sz="2954">
                <a:solidFill>
                  <a:srgbClr val="33547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US-24 Ricerca Canzoni</a:t>
            </a:r>
          </a:p>
          <a:p>
            <a:pPr algn="l">
              <a:lnSpc>
                <a:spcPts val="4136"/>
              </a:lnSpc>
            </a:pPr>
          </a:p>
        </p:txBody>
      </p:sp>
    </p:spTree>
  </p:cSld>
  <p:clrMapOvr>
    <a:masterClrMapping/>
  </p:clrMapOvr>
  <p:transition spd="fast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1926184">
            <a:off x="11324747" y="3881531"/>
            <a:ext cx="11670605" cy="6726512"/>
          </a:xfrm>
          <a:custGeom>
            <a:avLst/>
            <a:gdLst/>
            <a:ahLst/>
            <a:cxnLst/>
            <a:rect r="r" b="b" t="t" l="l"/>
            <a:pathLst>
              <a:path h="6726512" w="11670605">
                <a:moveTo>
                  <a:pt x="11670605" y="6726512"/>
                </a:moveTo>
                <a:lnTo>
                  <a:pt x="0" y="6726512"/>
                </a:lnTo>
                <a:lnTo>
                  <a:pt x="0" y="0"/>
                </a:lnTo>
                <a:lnTo>
                  <a:pt x="11670605" y="0"/>
                </a:lnTo>
                <a:lnTo>
                  <a:pt x="11670605" y="672651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217787">
            <a:off x="-4076239" y="-3363256"/>
            <a:ext cx="11670605" cy="6726512"/>
          </a:xfrm>
          <a:custGeom>
            <a:avLst/>
            <a:gdLst/>
            <a:ahLst/>
            <a:cxnLst/>
            <a:rect r="r" b="b" t="t" l="l"/>
            <a:pathLst>
              <a:path h="6726512" w="11670605">
                <a:moveTo>
                  <a:pt x="11670605" y="6726512"/>
                </a:moveTo>
                <a:lnTo>
                  <a:pt x="0" y="6726512"/>
                </a:lnTo>
                <a:lnTo>
                  <a:pt x="0" y="0"/>
                </a:lnTo>
                <a:lnTo>
                  <a:pt x="11670605" y="0"/>
                </a:lnTo>
                <a:lnTo>
                  <a:pt x="11670605" y="672651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277459" y="5512540"/>
            <a:ext cx="5516300" cy="5526535"/>
          </a:xfrm>
          <a:custGeom>
            <a:avLst/>
            <a:gdLst/>
            <a:ahLst/>
            <a:cxnLst/>
            <a:rect r="r" b="b" t="t" l="l"/>
            <a:pathLst>
              <a:path h="5526535" w="5516300">
                <a:moveTo>
                  <a:pt x="0" y="0"/>
                </a:moveTo>
                <a:lnTo>
                  <a:pt x="5516300" y="0"/>
                </a:lnTo>
                <a:lnTo>
                  <a:pt x="5516300" y="5526535"/>
                </a:lnTo>
                <a:lnTo>
                  <a:pt x="0" y="55265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886326" y="-1468609"/>
            <a:ext cx="5516300" cy="5526535"/>
          </a:xfrm>
          <a:custGeom>
            <a:avLst/>
            <a:gdLst/>
            <a:ahLst/>
            <a:cxnLst/>
            <a:rect r="r" b="b" t="t" l="l"/>
            <a:pathLst>
              <a:path h="5526535" w="5516300">
                <a:moveTo>
                  <a:pt x="0" y="0"/>
                </a:moveTo>
                <a:lnTo>
                  <a:pt x="5516301" y="0"/>
                </a:lnTo>
                <a:lnTo>
                  <a:pt x="5516301" y="5526534"/>
                </a:lnTo>
                <a:lnTo>
                  <a:pt x="0" y="55265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330541" y="1816477"/>
            <a:ext cx="11148448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335472"/>
                </a:solidFill>
                <a:latin typeface="Poppins Bold"/>
                <a:ea typeface="Poppins Bold"/>
                <a:cs typeface="Poppins Bold"/>
                <a:sym typeface="Poppins Bold"/>
              </a:rPr>
              <a:t>REFACTORING EFFETTUATI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078118" y="4317470"/>
            <a:ext cx="5512227" cy="169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1673" indent="-350836" lvl="1">
              <a:lnSpc>
                <a:spcPts val="4549"/>
              </a:lnSpc>
              <a:buFont typeface="Arial"/>
              <a:buChar char="•"/>
            </a:pPr>
            <a:r>
              <a:rPr lang="en-US" sz="3249">
                <a:solidFill>
                  <a:srgbClr val="33547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TECH-4 Adattamento al pattern Factory</a:t>
            </a:r>
          </a:p>
          <a:p>
            <a:pPr algn="l" marL="701673" indent="-350836" lvl="1">
              <a:lnSpc>
                <a:spcPts val="4549"/>
              </a:lnSpc>
              <a:buFont typeface="Arial"/>
              <a:buChar char="•"/>
            </a:pPr>
            <a:r>
              <a:rPr lang="en-US" sz="3249">
                <a:solidFill>
                  <a:srgbClr val="335472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TECH-5 Configurazione CSS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429621" y="4410180"/>
            <a:ext cx="5186106" cy="1102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b="true" sz="3099">
                <a:solidFill>
                  <a:srgbClr val="335472"/>
                </a:solidFill>
                <a:latin typeface="Poppins Bold"/>
                <a:ea typeface="Poppins Bold"/>
                <a:cs typeface="Poppins Bold"/>
                <a:sym typeface="Poppins Bold"/>
              </a:rPr>
              <a:t>STORY POINTS</a:t>
            </a:r>
          </a:p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b="true" sz="3099">
                <a:solidFill>
                  <a:srgbClr val="335472"/>
                </a:solidFill>
                <a:latin typeface="Poppins Bold"/>
                <a:ea typeface="Poppins Bold"/>
                <a:cs typeface="Poppins Bold"/>
                <a:sym typeface="Poppins Bold"/>
              </a:rPr>
              <a:t>8</a:t>
            </a:r>
          </a:p>
        </p:txBody>
      </p:sp>
    </p:spTree>
  </p:cSld>
  <p:clrMapOvr>
    <a:masterClrMapping/>
  </p:clrMapOvr>
  <p:transition spd="fast">
    <p:cover dir="rd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12078" y="219706"/>
            <a:ext cx="12198540" cy="9839905"/>
            <a:chOff x="0" y="0"/>
            <a:chExt cx="16264721" cy="1311987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5252483" y="5302589"/>
              <a:ext cx="3786851" cy="3852767"/>
            </a:xfrm>
            <a:custGeom>
              <a:avLst/>
              <a:gdLst/>
              <a:ahLst/>
              <a:cxnLst/>
              <a:rect r="r" b="b" t="t" l="l"/>
              <a:pathLst>
                <a:path h="3852767" w="3786851">
                  <a:moveTo>
                    <a:pt x="0" y="0"/>
                  </a:moveTo>
                  <a:lnTo>
                    <a:pt x="3786851" y="0"/>
                  </a:lnTo>
                  <a:lnTo>
                    <a:pt x="3786851" y="3852766"/>
                  </a:lnTo>
                  <a:lnTo>
                    <a:pt x="0" y="38527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AutoShape 4" id="4"/>
            <p:cNvSpPr/>
            <p:nvPr/>
          </p:nvSpPr>
          <p:spPr>
            <a:xfrm>
              <a:off x="21276" y="2814704"/>
              <a:ext cx="5211200" cy="3511866"/>
            </a:xfrm>
            <a:prstGeom prst="line">
              <a:avLst/>
            </a:prstGeom>
            <a:ln cap="flat" w="76141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" id="5"/>
            <p:cNvSpPr/>
            <p:nvPr/>
          </p:nvSpPr>
          <p:spPr>
            <a:xfrm flipV="true">
              <a:off x="9056420" y="3566362"/>
              <a:ext cx="5024616" cy="2728748"/>
            </a:xfrm>
            <a:prstGeom prst="line">
              <a:avLst/>
            </a:prstGeom>
            <a:ln cap="flat" w="76141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 flipV="true">
              <a:off x="7110108" y="0"/>
              <a:ext cx="0" cy="5302589"/>
            </a:xfrm>
            <a:prstGeom prst="line">
              <a:avLst/>
            </a:prstGeom>
            <a:ln cap="flat" w="76141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" id="7"/>
            <p:cNvSpPr/>
            <p:nvPr/>
          </p:nvSpPr>
          <p:spPr>
            <a:xfrm flipV="true">
              <a:off x="549558" y="8813913"/>
              <a:ext cx="5024616" cy="2728748"/>
            </a:xfrm>
            <a:prstGeom prst="line">
              <a:avLst/>
            </a:prstGeom>
            <a:ln cap="flat" w="76141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" id="8"/>
            <p:cNvSpPr/>
            <p:nvPr/>
          </p:nvSpPr>
          <p:spPr>
            <a:xfrm flipH="true" flipV="true">
              <a:off x="8424568" y="9070593"/>
              <a:ext cx="3690297" cy="4023548"/>
            </a:xfrm>
            <a:prstGeom prst="line">
              <a:avLst/>
            </a:prstGeom>
            <a:ln cap="flat" w="76141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9" id="9"/>
            <p:cNvSpPr txBox="true"/>
            <p:nvPr/>
          </p:nvSpPr>
          <p:spPr>
            <a:xfrm rot="0">
              <a:off x="4389237" y="4977266"/>
              <a:ext cx="2369876" cy="5934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13"/>
                </a:lnSpc>
              </a:pPr>
              <a:r>
                <a:rPr lang="en-US" sz="2652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Stop doing</a:t>
              </a:r>
            </a:p>
          </p:txBody>
        </p:sp>
        <p:sp>
          <p:nvSpPr>
            <p:cNvPr name="Freeform 10" id="10"/>
            <p:cNvSpPr/>
            <p:nvPr/>
          </p:nvSpPr>
          <p:spPr>
            <a:xfrm flipH="false" flipV="false" rot="0">
              <a:off x="1114468" y="621217"/>
              <a:ext cx="2807615" cy="2751463"/>
            </a:xfrm>
            <a:custGeom>
              <a:avLst/>
              <a:gdLst/>
              <a:ahLst/>
              <a:cxnLst/>
              <a:rect r="r" b="b" t="t" l="l"/>
              <a:pathLst>
                <a:path h="2751463" w="2807615">
                  <a:moveTo>
                    <a:pt x="0" y="0"/>
                  </a:moveTo>
                  <a:lnTo>
                    <a:pt x="2807616" y="0"/>
                  </a:lnTo>
                  <a:lnTo>
                    <a:pt x="2807616" y="2751463"/>
                  </a:lnTo>
                  <a:lnTo>
                    <a:pt x="0" y="27514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533780">
              <a:off x="211734" y="6223012"/>
              <a:ext cx="2953089" cy="2692852"/>
            </a:xfrm>
            <a:custGeom>
              <a:avLst/>
              <a:gdLst/>
              <a:ahLst/>
              <a:cxnLst/>
              <a:rect r="r" b="b" t="t" l="l"/>
              <a:pathLst>
                <a:path h="2692852" w="2953089">
                  <a:moveTo>
                    <a:pt x="0" y="0"/>
                  </a:moveTo>
                  <a:lnTo>
                    <a:pt x="2953089" y="0"/>
                  </a:lnTo>
                  <a:lnTo>
                    <a:pt x="2953089" y="2692852"/>
                  </a:lnTo>
                  <a:lnTo>
                    <a:pt x="0" y="26928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368" r="0" b="-6501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3144368" y="10008953"/>
              <a:ext cx="2917838" cy="2971872"/>
            </a:xfrm>
            <a:custGeom>
              <a:avLst/>
              <a:gdLst/>
              <a:ahLst/>
              <a:cxnLst/>
              <a:rect r="r" b="b" t="t" l="l"/>
              <a:pathLst>
                <a:path h="2971872" w="2917838">
                  <a:moveTo>
                    <a:pt x="0" y="0"/>
                  </a:moveTo>
                  <a:lnTo>
                    <a:pt x="2917839" y="0"/>
                  </a:lnTo>
                  <a:lnTo>
                    <a:pt x="2917839" y="2971872"/>
                  </a:lnTo>
                  <a:lnTo>
                    <a:pt x="0" y="29718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0938811" y="6685568"/>
              <a:ext cx="3376097" cy="3006133"/>
            </a:xfrm>
            <a:custGeom>
              <a:avLst/>
              <a:gdLst/>
              <a:ahLst/>
              <a:cxnLst/>
              <a:rect r="r" b="b" t="t" l="l"/>
              <a:pathLst>
                <a:path h="3006133" w="3376097">
                  <a:moveTo>
                    <a:pt x="0" y="0"/>
                  </a:moveTo>
                  <a:lnTo>
                    <a:pt x="3376096" y="0"/>
                  </a:lnTo>
                  <a:lnTo>
                    <a:pt x="3376096" y="3006133"/>
                  </a:lnTo>
                  <a:lnTo>
                    <a:pt x="0" y="30061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8424568" y="7472298"/>
              <a:ext cx="1915746" cy="6407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089"/>
                </a:lnSpc>
                <a:spcBef>
                  <a:spcPct val="0"/>
                </a:spcBef>
              </a:pPr>
              <a:r>
                <a:rPr lang="en-US" b="true" sz="292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More of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5755828" y="9098205"/>
              <a:ext cx="2477787" cy="5934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13"/>
                </a:lnSpc>
              </a:pPr>
              <a:r>
                <a:rPr lang="en-US" sz="2652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Start doing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3698027" y="7462773"/>
              <a:ext cx="1534449" cy="5934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13"/>
                </a:lnSpc>
              </a:pPr>
              <a:r>
                <a:rPr lang="en-US" sz="2652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Less of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7468114" y="4977266"/>
              <a:ext cx="2478445" cy="5934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13"/>
                </a:lnSpc>
              </a:pPr>
              <a:r>
                <a:rPr lang="en-US" sz="2652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Keep doing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3824705" y="419102"/>
              <a:ext cx="2430867" cy="4762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00"/>
                </a:lnSpc>
              </a:pP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1187877" y="1349800"/>
              <a:ext cx="2660799" cy="3048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18"/>
                </a:lnSpc>
              </a:pP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7833443" y="324383"/>
              <a:ext cx="2624251" cy="2968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64"/>
                </a:lnSpc>
              </a:pP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13678683" y="-19050"/>
              <a:ext cx="2586037" cy="2634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98"/>
                </a:lnSpc>
              </a:pP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549558" y="6356583"/>
              <a:ext cx="2408376" cy="3928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31"/>
                </a:lnSpc>
              </a:pP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3299774" y="10621693"/>
              <a:ext cx="2394389" cy="7417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85"/>
                </a:lnSpc>
              </a:pPr>
            </a:p>
            <a:p>
              <a:pPr algn="ctr">
                <a:lnSpc>
                  <a:spcPts val="2285"/>
                </a:lnSpc>
              </a:pP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10938811" y="7105725"/>
              <a:ext cx="3142225" cy="3200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25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true" flipV="true" rot="-1926184">
            <a:off x="11735203" y="4368947"/>
            <a:ext cx="11670605" cy="6726512"/>
          </a:xfrm>
          <a:custGeom>
            <a:avLst/>
            <a:gdLst/>
            <a:ahLst/>
            <a:cxnLst/>
            <a:rect r="r" b="b" t="t" l="l"/>
            <a:pathLst>
              <a:path h="6726512" w="11670605">
                <a:moveTo>
                  <a:pt x="11670605" y="6726512"/>
                </a:moveTo>
                <a:lnTo>
                  <a:pt x="0" y="6726512"/>
                </a:lnTo>
                <a:lnTo>
                  <a:pt x="0" y="0"/>
                </a:lnTo>
                <a:lnTo>
                  <a:pt x="11670605" y="0"/>
                </a:lnTo>
                <a:lnTo>
                  <a:pt x="11670605" y="6726512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9825607" y="803443"/>
            <a:ext cx="2658747" cy="2678225"/>
          </a:xfrm>
          <a:custGeom>
            <a:avLst/>
            <a:gdLst/>
            <a:ahLst/>
            <a:cxnLst/>
            <a:rect r="r" b="b" t="t" l="l"/>
            <a:pathLst>
              <a:path h="2678225" w="2658747">
                <a:moveTo>
                  <a:pt x="0" y="0"/>
                </a:moveTo>
                <a:lnTo>
                  <a:pt x="2658747" y="0"/>
                </a:lnTo>
                <a:lnTo>
                  <a:pt x="2658747" y="2678225"/>
                </a:lnTo>
                <a:lnTo>
                  <a:pt x="0" y="26782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8034658" y="7732203"/>
            <a:ext cx="2218685" cy="2259771"/>
          </a:xfrm>
          <a:custGeom>
            <a:avLst/>
            <a:gdLst/>
            <a:ahLst/>
            <a:cxnLst/>
            <a:rect r="r" b="b" t="t" l="l"/>
            <a:pathLst>
              <a:path h="2259771" w="2218685">
                <a:moveTo>
                  <a:pt x="0" y="0"/>
                </a:moveTo>
                <a:lnTo>
                  <a:pt x="2218684" y="0"/>
                </a:lnTo>
                <a:lnTo>
                  <a:pt x="2218684" y="2259772"/>
                </a:lnTo>
                <a:lnTo>
                  <a:pt x="0" y="225977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6476973" y="1898611"/>
            <a:ext cx="2105711" cy="2063597"/>
          </a:xfrm>
          <a:custGeom>
            <a:avLst/>
            <a:gdLst/>
            <a:ahLst/>
            <a:cxnLst/>
            <a:rect r="r" b="b" t="t" l="l"/>
            <a:pathLst>
              <a:path h="2063597" w="2105711">
                <a:moveTo>
                  <a:pt x="0" y="0"/>
                </a:moveTo>
                <a:lnTo>
                  <a:pt x="2105712" y="0"/>
                </a:lnTo>
                <a:lnTo>
                  <a:pt x="2105712" y="2063598"/>
                </a:lnTo>
                <a:lnTo>
                  <a:pt x="0" y="20635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true" flipV="true" rot="1695725">
            <a:off x="-8246872" y="-3508634"/>
            <a:ext cx="12175072" cy="7017269"/>
          </a:xfrm>
          <a:custGeom>
            <a:avLst/>
            <a:gdLst/>
            <a:ahLst/>
            <a:cxnLst/>
            <a:rect r="r" b="b" t="t" l="l"/>
            <a:pathLst>
              <a:path h="7017269" w="12175072">
                <a:moveTo>
                  <a:pt x="12175072" y="7017268"/>
                </a:moveTo>
                <a:lnTo>
                  <a:pt x="0" y="7017268"/>
                </a:lnTo>
                <a:lnTo>
                  <a:pt x="0" y="0"/>
                </a:lnTo>
                <a:lnTo>
                  <a:pt x="12175072" y="0"/>
                </a:lnTo>
                <a:lnTo>
                  <a:pt x="12175072" y="7017268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4171229" y="1000125"/>
            <a:ext cx="2006435" cy="1432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295245" indent="-147623" lvl="1">
              <a:lnSpc>
                <a:spcPts val="1914"/>
              </a:lnSpc>
              <a:buFont typeface="Arial"/>
              <a:buChar char="•"/>
            </a:pPr>
            <a:r>
              <a:rPr lang="en-US" sz="136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Decidere </a:t>
            </a:r>
            <a:r>
              <a:rPr lang="en-US" sz="136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 nomi delle variabili senza confrontarsi con gli altri membri del team</a:t>
            </a:r>
          </a:p>
          <a:p>
            <a:pPr algn="l">
              <a:lnSpc>
                <a:spcPts val="1914"/>
              </a:lnSpc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6476973" y="2113980"/>
            <a:ext cx="2079900" cy="1478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Assegnare user story ai vari membri del team dipendenti da loro impossibilitando lo sviluppo lineare delle classi.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6577743" y="57819"/>
            <a:ext cx="1878360" cy="1840793"/>
          </a:xfrm>
          <a:custGeom>
            <a:avLst/>
            <a:gdLst/>
            <a:ahLst/>
            <a:cxnLst/>
            <a:rect r="r" b="b" t="t" l="l"/>
            <a:pathLst>
              <a:path h="1840793" w="1878360">
                <a:moveTo>
                  <a:pt x="0" y="0"/>
                </a:moveTo>
                <a:lnTo>
                  <a:pt x="1878360" y="0"/>
                </a:lnTo>
                <a:lnTo>
                  <a:pt x="1878360" y="1840792"/>
                </a:lnTo>
                <a:lnTo>
                  <a:pt x="0" y="18407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6577743" y="-74127"/>
            <a:ext cx="1646334" cy="1726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</a:p>
          <a:p>
            <a:pPr algn="ctr">
              <a:lnSpc>
                <a:spcPts val="1960"/>
              </a:lnSpc>
            </a:pPr>
          </a:p>
          <a:p>
            <a:pPr algn="ctr" marL="302261" indent="-151130" lvl="1">
              <a:lnSpc>
                <a:spcPts val="1960"/>
              </a:lnSpc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Lasciare per troppi giorni le pull request non revisionate</a:t>
            </a:r>
          </a:p>
          <a:p>
            <a:pPr algn="ctr">
              <a:lnSpc>
                <a:spcPts val="1960"/>
              </a:lnSpc>
            </a:pPr>
          </a:p>
        </p:txBody>
      </p:sp>
      <p:sp>
        <p:nvSpPr>
          <p:cNvPr name="TextBox 34" id="34"/>
          <p:cNvSpPr txBox="true"/>
          <p:nvPr/>
        </p:nvSpPr>
        <p:spPr>
          <a:xfrm rot="0">
            <a:off x="3703154" y="5114925"/>
            <a:ext cx="1955466" cy="1429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322687" indent="-161344" lvl="1">
              <a:lnSpc>
                <a:spcPts val="2092"/>
              </a:lnSpc>
              <a:buFont typeface="Arial"/>
              <a:buChar char="•"/>
            </a:pPr>
            <a:r>
              <a:rPr lang="en-US" sz="149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149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imandare la scrittura dei test a fine sprint, quando il tempo è ridotto </a:t>
            </a:r>
          </a:p>
          <a:p>
            <a:pPr algn="ctr">
              <a:lnSpc>
                <a:spcPts val="861"/>
              </a:lnSpc>
            </a:pPr>
          </a:p>
        </p:txBody>
      </p:sp>
      <p:sp>
        <p:nvSpPr>
          <p:cNvPr name="Freeform 35" id="35"/>
          <p:cNvSpPr/>
          <p:nvPr/>
        </p:nvSpPr>
        <p:spPr>
          <a:xfrm flipH="false" flipV="false" rot="533780">
            <a:off x="1574602" y="3198862"/>
            <a:ext cx="2261824" cy="2062504"/>
          </a:xfrm>
          <a:custGeom>
            <a:avLst/>
            <a:gdLst/>
            <a:ahLst/>
            <a:cxnLst/>
            <a:rect r="r" b="b" t="t" l="l"/>
            <a:pathLst>
              <a:path h="2062504" w="2261824">
                <a:moveTo>
                  <a:pt x="0" y="0"/>
                </a:moveTo>
                <a:lnTo>
                  <a:pt x="2261824" y="0"/>
                </a:lnTo>
                <a:lnTo>
                  <a:pt x="2261824" y="2062504"/>
                </a:lnTo>
                <a:lnTo>
                  <a:pt x="0" y="20625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3368" r="0" b="-6501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1747688" y="3453093"/>
            <a:ext cx="1955466" cy="1649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370358" indent="-185179" lvl="1">
              <a:lnSpc>
                <a:spcPts val="2401"/>
              </a:lnSpc>
              <a:buFont typeface="Arial"/>
              <a:buChar char="•"/>
            </a:pPr>
            <a:r>
              <a:rPr lang="en-US" sz="17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Inserire nei primi sprint task non fondamentali.</a:t>
            </a:r>
          </a:p>
          <a:p>
            <a:pPr algn="ctr">
              <a:lnSpc>
                <a:spcPts val="3661"/>
              </a:lnSpc>
            </a:pPr>
          </a:p>
        </p:txBody>
      </p:sp>
      <p:sp>
        <p:nvSpPr>
          <p:cNvPr name="TextBox 37" id="37"/>
          <p:cNvSpPr txBox="true"/>
          <p:nvPr/>
        </p:nvSpPr>
        <p:spPr>
          <a:xfrm rot="0">
            <a:off x="10032229" y="1389558"/>
            <a:ext cx="2053215" cy="1689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2"/>
              </a:lnSpc>
            </a:pPr>
            <a:r>
              <a:rPr lang="en-US" sz="137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Confro</a:t>
            </a:r>
            <a:r>
              <a:rPr lang="en-US" sz="137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nto con altri membri del team, anche non direttamente associati al task, in modo da avere una visione oggettiva e non condizionata.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12380719" y="-154433"/>
            <a:ext cx="2954022" cy="2975663"/>
          </a:xfrm>
          <a:custGeom>
            <a:avLst/>
            <a:gdLst/>
            <a:ahLst/>
            <a:cxnLst/>
            <a:rect r="r" b="b" t="t" l="l"/>
            <a:pathLst>
              <a:path h="2975663" w="2954022">
                <a:moveTo>
                  <a:pt x="0" y="0"/>
                </a:moveTo>
                <a:lnTo>
                  <a:pt x="2954022" y="0"/>
                </a:lnTo>
                <a:lnTo>
                  <a:pt x="2954022" y="2975663"/>
                </a:lnTo>
                <a:lnTo>
                  <a:pt x="0" y="297566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12690008" y="784393"/>
            <a:ext cx="2037219" cy="1648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45"/>
              </a:lnSpc>
            </a:pPr>
            <a:r>
              <a:rPr lang="en-US" sz="117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117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ichiedere una pull request sulla piattaforma GitHub agli altri membri del team in modo da essere sicuri di risolvere tutti i conflitti che si potrebbero creare sul main e di pushare codice funzionante.</a:t>
            </a:r>
          </a:p>
        </p:txBody>
      </p:sp>
      <p:sp>
        <p:nvSpPr>
          <p:cNvPr name="Freeform 40" id="40"/>
          <p:cNvSpPr/>
          <p:nvPr/>
        </p:nvSpPr>
        <p:spPr>
          <a:xfrm flipH="false" flipV="false" rot="0">
            <a:off x="15334741" y="-70006"/>
            <a:ext cx="2658747" cy="2678225"/>
          </a:xfrm>
          <a:custGeom>
            <a:avLst/>
            <a:gdLst/>
            <a:ahLst/>
            <a:cxnLst/>
            <a:rect r="r" b="b" t="t" l="l"/>
            <a:pathLst>
              <a:path h="2678225" w="2658747">
                <a:moveTo>
                  <a:pt x="0" y="0"/>
                </a:moveTo>
                <a:lnTo>
                  <a:pt x="2658746" y="0"/>
                </a:lnTo>
                <a:lnTo>
                  <a:pt x="2658746" y="2678225"/>
                </a:lnTo>
                <a:lnTo>
                  <a:pt x="0" y="26782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15542427" y="547800"/>
            <a:ext cx="2028079" cy="1702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7"/>
              </a:lnSpc>
            </a:pPr>
            <a:r>
              <a:rPr lang="en-US" sz="196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Aggiungere commenti doxygen prima di pushare il codice definitivo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782191" y="5395278"/>
            <a:ext cx="2167136" cy="1802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2"/>
              </a:lnSpc>
            </a:pPr>
            <a:r>
              <a:rPr lang="en-US" sz="171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Testare le nuove funzional</a:t>
            </a:r>
            <a:r>
              <a:rPr lang="en-US" sz="171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ità anche degli altri membri per coprire tutti i casi d’uso e migliorare le tipologie di test </a:t>
            </a:r>
          </a:p>
        </p:txBody>
      </p:sp>
      <p:sp>
        <p:nvSpPr>
          <p:cNvPr name="Freeform 43" id="43"/>
          <p:cNvSpPr/>
          <p:nvPr/>
        </p:nvSpPr>
        <p:spPr>
          <a:xfrm flipH="false" flipV="false" rot="0">
            <a:off x="14488947" y="4504536"/>
            <a:ext cx="3008634" cy="2678938"/>
          </a:xfrm>
          <a:custGeom>
            <a:avLst/>
            <a:gdLst/>
            <a:ahLst/>
            <a:cxnLst/>
            <a:rect r="r" b="b" t="t" l="l"/>
            <a:pathLst>
              <a:path h="2678938" w="3008634">
                <a:moveTo>
                  <a:pt x="0" y="0"/>
                </a:moveTo>
                <a:lnTo>
                  <a:pt x="3008634" y="0"/>
                </a:lnTo>
                <a:lnTo>
                  <a:pt x="3008634" y="2678938"/>
                </a:lnTo>
                <a:lnTo>
                  <a:pt x="0" y="267893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44" id="44"/>
          <p:cNvSpPr txBox="true"/>
          <p:nvPr/>
        </p:nvSpPr>
        <p:spPr>
          <a:xfrm rot="0">
            <a:off x="14909696" y="4928441"/>
            <a:ext cx="2167136" cy="2105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2"/>
              </a:lnSpc>
            </a:pPr>
            <a:r>
              <a:rPr lang="en-US" sz="171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Aggiungere un’etichetta come messaggio di commit per chiarire a tutti i membri del team lo scopo generale delle modifiche effettuate.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8114031" y="8035473"/>
            <a:ext cx="1918198" cy="1624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5"/>
              </a:lnSpc>
            </a:pPr>
            <a:r>
              <a:rPr lang="en-US" sz="155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</a:t>
            </a:r>
            <a:r>
              <a:rPr lang="en-US" sz="155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igliorare la struttura delle user story e la formulazione dei task per adempiere ad esse.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5833027" y="8219424"/>
            <a:ext cx="1976184" cy="125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1"/>
              </a:lnSpc>
            </a:pPr>
            <a:r>
              <a:rPr lang="en-US" sz="14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Fare brev</a:t>
            </a:r>
            <a:r>
              <a:rPr lang="en-US" sz="14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 daily check sullo stato delle PR aperte, per sbloccarle prima che si accumulino</a:t>
            </a:r>
          </a:p>
        </p:txBody>
      </p:sp>
      <p:sp>
        <p:nvSpPr>
          <p:cNvPr name="Freeform 47" id="47"/>
          <p:cNvSpPr/>
          <p:nvPr/>
        </p:nvSpPr>
        <p:spPr>
          <a:xfrm flipH="false" flipV="false" rot="0">
            <a:off x="10657496" y="8247999"/>
            <a:ext cx="2038557" cy="2076308"/>
          </a:xfrm>
          <a:custGeom>
            <a:avLst/>
            <a:gdLst/>
            <a:ahLst/>
            <a:cxnLst/>
            <a:rect r="r" b="b" t="t" l="l"/>
            <a:pathLst>
              <a:path h="2076308" w="2038557">
                <a:moveTo>
                  <a:pt x="0" y="0"/>
                </a:moveTo>
                <a:lnTo>
                  <a:pt x="2038557" y="0"/>
                </a:lnTo>
                <a:lnTo>
                  <a:pt x="2038557" y="2076308"/>
                </a:lnTo>
                <a:lnTo>
                  <a:pt x="0" y="207630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8" id="48"/>
          <p:cNvSpPr txBox="true"/>
          <p:nvPr/>
        </p:nvSpPr>
        <p:spPr>
          <a:xfrm rot="0">
            <a:off x="10645611" y="8843039"/>
            <a:ext cx="1838743" cy="1076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266469" indent="-133234" lvl="1">
              <a:lnSpc>
                <a:spcPts val="1727"/>
              </a:lnSpc>
              <a:buFont typeface="Arial"/>
              <a:buChar char="•"/>
            </a:pPr>
            <a:r>
              <a:rPr lang="en-US" sz="123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Def</a:t>
            </a:r>
            <a:r>
              <a:rPr lang="en-US" sz="123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inire un tempo massimo entro cui una PR deve essere revisionata (es. 24h)</a:t>
            </a:r>
          </a:p>
          <a:p>
            <a:pPr algn="ctr">
              <a:lnSpc>
                <a:spcPts val="1727"/>
              </a:lnSpc>
            </a:pPr>
          </a:p>
        </p:txBody>
      </p:sp>
    </p:spTree>
  </p:cSld>
  <p:clrMapOvr>
    <a:masterClrMapping/>
  </p:clrMapOvr>
  <p:transition spd="fast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1926184">
            <a:off x="11324747" y="3881531"/>
            <a:ext cx="11670605" cy="6726512"/>
          </a:xfrm>
          <a:custGeom>
            <a:avLst/>
            <a:gdLst/>
            <a:ahLst/>
            <a:cxnLst/>
            <a:rect r="r" b="b" t="t" l="l"/>
            <a:pathLst>
              <a:path h="6726512" w="11670605">
                <a:moveTo>
                  <a:pt x="11670605" y="6726512"/>
                </a:moveTo>
                <a:lnTo>
                  <a:pt x="0" y="6726512"/>
                </a:lnTo>
                <a:lnTo>
                  <a:pt x="0" y="0"/>
                </a:lnTo>
                <a:lnTo>
                  <a:pt x="11670605" y="0"/>
                </a:lnTo>
                <a:lnTo>
                  <a:pt x="11670605" y="672651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217787">
            <a:off x="-4076239" y="-3363256"/>
            <a:ext cx="11670605" cy="6726512"/>
          </a:xfrm>
          <a:custGeom>
            <a:avLst/>
            <a:gdLst/>
            <a:ahLst/>
            <a:cxnLst/>
            <a:rect r="r" b="b" t="t" l="l"/>
            <a:pathLst>
              <a:path h="6726512" w="11670605">
                <a:moveTo>
                  <a:pt x="11670605" y="6726512"/>
                </a:moveTo>
                <a:lnTo>
                  <a:pt x="0" y="6726512"/>
                </a:lnTo>
                <a:lnTo>
                  <a:pt x="0" y="0"/>
                </a:lnTo>
                <a:lnTo>
                  <a:pt x="11670605" y="0"/>
                </a:lnTo>
                <a:lnTo>
                  <a:pt x="11670605" y="672651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277459" y="5512540"/>
            <a:ext cx="5516300" cy="5526535"/>
          </a:xfrm>
          <a:custGeom>
            <a:avLst/>
            <a:gdLst/>
            <a:ahLst/>
            <a:cxnLst/>
            <a:rect r="r" b="b" t="t" l="l"/>
            <a:pathLst>
              <a:path h="5526535" w="5516300">
                <a:moveTo>
                  <a:pt x="0" y="0"/>
                </a:moveTo>
                <a:lnTo>
                  <a:pt x="5516300" y="0"/>
                </a:lnTo>
                <a:lnTo>
                  <a:pt x="5516300" y="5526535"/>
                </a:lnTo>
                <a:lnTo>
                  <a:pt x="0" y="55265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886326" y="-1468609"/>
            <a:ext cx="5516300" cy="5526535"/>
          </a:xfrm>
          <a:custGeom>
            <a:avLst/>
            <a:gdLst/>
            <a:ahLst/>
            <a:cxnLst/>
            <a:rect r="r" b="b" t="t" l="l"/>
            <a:pathLst>
              <a:path h="5526535" w="5516300">
                <a:moveTo>
                  <a:pt x="0" y="0"/>
                </a:moveTo>
                <a:lnTo>
                  <a:pt x="5516301" y="0"/>
                </a:lnTo>
                <a:lnTo>
                  <a:pt x="5516301" y="5526534"/>
                </a:lnTo>
                <a:lnTo>
                  <a:pt x="0" y="55265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569776" y="390525"/>
            <a:ext cx="11148448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335472"/>
                </a:solidFill>
                <a:latin typeface="Poppins Bold"/>
                <a:ea typeface="Poppins Bold"/>
                <a:cs typeface="Poppins Bold"/>
                <a:sym typeface="Poppins Bold"/>
              </a:rPr>
              <a:t>PATTERN IMPLEMENTATI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59138" y="1888595"/>
            <a:ext cx="16169723" cy="6581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33547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FACTORY: </a:t>
            </a:r>
            <a:r>
              <a:rPr lang="en-US" sz="3399">
                <a:solidFill>
                  <a:srgbClr val="335472"/>
                </a:solidFill>
                <a:latin typeface="Open Sans"/>
                <a:ea typeface="Open Sans"/>
                <a:cs typeface="Open Sans"/>
                <a:sym typeface="Open Sans"/>
              </a:rPr>
              <a:t>Creazione centralizzata dei brani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33547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STATE: </a:t>
            </a:r>
            <a:r>
              <a:rPr lang="en-US" sz="3399">
                <a:solidFill>
                  <a:srgbClr val="335472"/>
                </a:solidFill>
                <a:latin typeface="Open Sans"/>
                <a:ea typeface="Open Sans"/>
                <a:cs typeface="Open Sans"/>
                <a:sym typeface="Open Sans"/>
              </a:rPr>
              <a:t>Gestione dinamica degli stati del player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33547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STRATEGY: </a:t>
            </a:r>
            <a:r>
              <a:rPr lang="en-US" sz="3399">
                <a:solidFill>
                  <a:srgbClr val="335472"/>
                </a:solidFill>
                <a:latin typeface="Open Sans"/>
                <a:ea typeface="Open Sans"/>
                <a:cs typeface="Open Sans"/>
                <a:sym typeface="Open Sans"/>
              </a:rPr>
              <a:t>Scelta di una modalità di riproduzione a runtime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33547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COMMAND: </a:t>
            </a:r>
            <a:r>
              <a:rPr lang="en-US" sz="3399">
                <a:solidFill>
                  <a:srgbClr val="335472"/>
                </a:solidFill>
                <a:latin typeface="Open Sans"/>
                <a:ea typeface="Open Sans"/>
                <a:cs typeface="Open Sans"/>
                <a:sym typeface="Open Sans"/>
              </a:rPr>
              <a:t>Implementazione del meccanismo di Undo/Redo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33547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PROXY:</a:t>
            </a:r>
            <a:r>
              <a:rPr lang="en-US" sz="3399">
                <a:solidFill>
                  <a:srgbClr val="335472"/>
                </a:solidFill>
                <a:latin typeface="Open Sans"/>
                <a:ea typeface="Open Sans"/>
                <a:cs typeface="Open Sans"/>
                <a:sym typeface="Open Sans"/>
              </a:rPr>
              <a:t> Ottimizzazione delle risorse tramite Lazy Loading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33547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OBSERVER: </a:t>
            </a:r>
            <a:r>
              <a:rPr lang="en-US" sz="3399">
                <a:solidFill>
                  <a:srgbClr val="335472"/>
                </a:solidFill>
                <a:latin typeface="Open Sans"/>
                <a:ea typeface="Open Sans"/>
                <a:cs typeface="Open Sans"/>
                <a:sym typeface="Open Sans"/>
              </a:rPr>
              <a:t>Disaccoppiamento tra logica e vista per gli aggiornamenti grafici in tempo reale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33547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FAÇADE: </a:t>
            </a:r>
            <a:r>
              <a:rPr lang="en-US" sz="3399">
                <a:solidFill>
                  <a:srgbClr val="335472"/>
                </a:solidFill>
                <a:latin typeface="Open Sans"/>
                <a:ea typeface="Open Sans"/>
                <a:cs typeface="Open Sans"/>
                <a:sym typeface="Open Sans"/>
              </a:rPr>
              <a:t>Semplificazione del sistema tramite classe centralizzata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33547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TEMPLATE: </a:t>
            </a:r>
            <a:r>
              <a:rPr lang="en-US" sz="3399">
                <a:solidFill>
                  <a:srgbClr val="335472"/>
                </a:solidFill>
                <a:latin typeface="Open Sans"/>
                <a:ea typeface="Open Sans"/>
                <a:cs typeface="Open Sans"/>
                <a:sym typeface="Open Sans"/>
              </a:rPr>
              <a:t>Definizione di uno scheletro per l’algoritmo di creazione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33547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SINGLETON*</a:t>
            </a:r>
            <a:r>
              <a:rPr lang="en-US" sz="3399">
                <a:solidFill>
                  <a:srgbClr val="335472"/>
                </a:solidFill>
                <a:latin typeface="Open Sans"/>
                <a:ea typeface="Open Sans"/>
                <a:cs typeface="Open Sans"/>
                <a:sym typeface="Open Sans"/>
              </a:rPr>
              <a:t>: Una sola istanza di una classe in tutta l’app con punto di accesso globale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2887" y="8163946"/>
            <a:ext cx="17922226" cy="2083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15"/>
              </a:lnSpc>
            </a:pPr>
            <a:r>
              <a:rPr lang="en-US" sz="5010" b="true">
                <a:solidFill>
                  <a:srgbClr val="33547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Pattern architetturali: 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33547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MVC (Model View Controller)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33547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DAO (Data Access Object)</a:t>
            </a:r>
            <a:r>
              <a:rPr lang="en-US" sz="3399">
                <a:solidFill>
                  <a:srgbClr val="335472"/>
                </a:solidFill>
                <a:latin typeface="Open Sans"/>
                <a:ea typeface="Open Sans"/>
                <a:cs typeface="Open Sans"/>
                <a:sym typeface="Open Sans"/>
              </a:rPr>
              <a:t>: Astrazione dell’accesso ai dati </a:t>
            </a:r>
          </a:p>
        </p:txBody>
      </p:sp>
    </p:spTree>
  </p:cSld>
  <p:clrMapOvr>
    <a:masterClrMapping/>
  </p:clrMapOvr>
  <p:transition spd="fast">
    <p:cover dir="rd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1926184">
            <a:off x="11324747" y="3881531"/>
            <a:ext cx="11670605" cy="6726512"/>
          </a:xfrm>
          <a:custGeom>
            <a:avLst/>
            <a:gdLst/>
            <a:ahLst/>
            <a:cxnLst/>
            <a:rect r="r" b="b" t="t" l="l"/>
            <a:pathLst>
              <a:path h="6726512" w="11670605">
                <a:moveTo>
                  <a:pt x="11670605" y="6726512"/>
                </a:moveTo>
                <a:lnTo>
                  <a:pt x="0" y="6726512"/>
                </a:lnTo>
                <a:lnTo>
                  <a:pt x="0" y="0"/>
                </a:lnTo>
                <a:lnTo>
                  <a:pt x="11670605" y="0"/>
                </a:lnTo>
                <a:lnTo>
                  <a:pt x="11670605" y="672651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217787">
            <a:off x="-4076239" y="-3363256"/>
            <a:ext cx="11670605" cy="6726512"/>
          </a:xfrm>
          <a:custGeom>
            <a:avLst/>
            <a:gdLst/>
            <a:ahLst/>
            <a:cxnLst/>
            <a:rect r="r" b="b" t="t" l="l"/>
            <a:pathLst>
              <a:path h="6726512" w="11670605">
                <a:moveTo>
                  <a:pt x="11670605" y="6726512"/>
                </a:moveTo>
                <a:lnTo>
                  <a:pt x="0" y="6726512"/>
                </a:lnTo>
                <a:lnTo>
                  <a:pt x="0" y="0"/>
                </a:lnTo>
                <a:lnTo>
                  <a:pt x="11670605" y="0"/>
                </a:lnTo>
                <a:lnTo>
                  <a:pt x="11670605" y="672651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277459" y="5512540"/>
            <a:ext cx="5516300" cy="5526535"/>
          </a:xfrm>
          <a:custGeom>
            <a:avLst/>
            <a:gdLst/>
            <a:ahLst/>
            <a:cxnLst/>
            <a:rect r="r" b="b" t="t" l="l"/>
            <a:pathLst>
              <a:path h="5526535" w="5516300">
                <a:moveTo>
                  <a:pt x="0" y="0"/>
                </a:moveTo>
                <a:lnTo>
                  <a:pt x="5516300" y="0"/>
                </a:lnTo>
                <a:lnTo>
                  <a:pt x="5516300" y="5526535"/>
                </a:lnTo>
                <a:lnTo>
                  <a:pt x="0" y="55265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886326" y="-1468609"/>
            <a:ext cx="5516300" cy="5526535"/>
          </a:xfrm>
          <a:custGeom>
            <a:avLst/>
            <a:gdLst/>
            <a:ahLst/>
            <a:cxnLst/>
            <a:rect r="r" b="b" t="t" l="l"/>
            <a:pathLst>
              <a:path h="5526535" w="5516300">
                <a:moveTo>
                  <a:pt x="0" y="0"/>
                </a:moveTo>
                <a:lnTo>
                  <a:pt x="5516301" y="0"/>
                </a:lnTo>
                <a:lnTo>
                  <a:pt x="5516301" y="5526534"/>
                </a:lnTo>
                <a:lnTo>
                  <a:pt x="0" y="55265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59064" y="2903998"/>
            <a:ext cx="15400986" cy="5217084"/>
          </a:xfrm>
          <a:custGeom>
            <a:avLst/>
            <a:gdLst/>
            <a:ahLst/>
            <a:cxnLst/>
            <a:rect r="r" b="b" t="t" l="l"/>
            <a:pathLst>
              <a:path h="5217084" w="15400986">
                <a:moveTo>
                  <a:pt x="0" y="0"/>
                </a:moveTo>
                <a:lnTo>
                  <a:pt x="15400986" y="0"/>
                </a:lnTo>
                <a:lnTo>
                  <a:pt x="15400986" y="5217084"/>
                </a:lnTo>
                <a:lnTo>
                  <a:pt x="0" y="52170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819570" y="-66675"/>
            <a:ext cx="8648859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335472"/>
                </a:solidFill>
                <a:latin typeface="Poppins Bold"/>
                <a:ea typeface="Poppins Bold"/>
                <a:cs typeface="Poppins Bold"/>
                <a:sym typeface="Poppins Bold"/>
              </a:rPr>
              <a:t>COMMAND</a:t>
            </a:r>
          </a:p>
        </p:txBody>
      </p:sp>
    </p:spTree>
  </p:cSld>
  <p:clrMapOvr>
    <a:masterClrMapping/>
  </p:clrMapOvr>
  <p:transition spd="fast">
    <p:cover dir="d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1926184">
            <a:off x="11324747" y="3881531"/>
            <a:ext cx="11670605" cy="6726512"/>
          </a:xfrm>
          <a:custGeom>
            <a:avLst/>
            <a:gdLst/>
            <a:ahLst/>
            <a:cxnLst/>
            <a:rect r="r" b="b" t="t" l="l"/>
            <a:pathLst>
              <a:path h="6726512" w="11670605">
                <a:moveTo>
                  <a:pt x="11670605" y="6726512"/>
                </a:moveTo>
                <a:lnTo>
                  <a:pt x="0" y="6726512"/>
                </a:lnTo>
                <a:lnTo>
                  <a:pt x="0" y="0"/>
                </a:lnTo>
                <a:lnTo>
                  <a:pt x="11670605" y="0"/>
                </a:lnTo>
                <a:lnTo>
                  <a:pt x="11670605" y="672651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217787">
            <a:off x="-4076239" y="-3363256"/>
            <a:ext cx="11670605" cy="6726512"/>
          </a:xfrm>
          <a:custGeom>
            <a:avLst/>
            <a:gdLst/>
            <a:ahLst/>
            <a:cxnLst/>
            <a:rect r="r" b="b" t="t" l="l"/>
            <a:pathLst>
              <a:path h="6726512" w="11670605">
                <a:moveTo>
                  <a:pt x="11670605" y="6726512"/>
                </a:moveTo>
                <a:lnTo>
                  <a:pt x="0" y="6726512"/>
                </a:lnTo>
                <a:lnTo>
                  <a:pt x="0" y="0"/>
                </a:lnTo>
                <a:lnTo>
                  <a:pt x="11670605" y="0"/>
                </a:lnTo>
                <a:lnTo>
                  <a:pt x="11670605" y="672651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277459" y="5512540"/>
            <a:ext cx="5516300" cy="5526535"/>
          </a:xfrm>
          <a:custGeom>
            <a:avLst/>
            <a:gdLst/>
            <a:ahLst/>
            <a:cxnLst/>
            <a:rect r="r" b="b" t="t" l="l"/>
            <a:pathLst>
              <a:path h="5526535" w="5516300">
                <a:moveTo>
                  <a:pt x="0" y="0"/>
                </a:moveTo>
                <a:lnTo>
                  <a:pt x="5516300" y="0"/>
                </a:lnTo>
                <a:lnTo>
                  <a:pt x="5516300" y="5526535"/>
                </a:lnTo>
                <a:lnTo>
                  <a:pt x="0" y="55265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886326" y="-1468609"/>
            <a:ext cx="5516300" cy="5526535"/>
          </a:xfrm>
          <a:custGeom>
            <a:avLst/>
            <a:gdLst/>
            <a:ahLst/>
            <a:cxnLst/>
            <a:rect r="r" b="b" t="t" l="l"/>
            <a:pathLst>
              <a:path h="5526535" w="5516300">
                <a:moveTo>
                  <a:pt x="0" y="0"/>
                </a:moveTo>
                <a:lnTo>
                  <a:pt x="5516301" y="0"/>
                </a:lnTo>
                <a:lnTo>
                  <a:pt x="5516301" y="5526534"/>
                </a:lnTo>
                <a:lnTo>
                  <a:pt x="0" y="55265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048685" y="1536803"/>
            <a:ext cx="12190630" cy="7527714"/>
          </a:xfrm>
          <a:custGeom>
            <a:avLst/>
            <a:gdLst/>
            <a:ahLst/>
            <a:cxnLst/>
            <a:rect r="r" b="b" t="t" l="l"/>
            <a:pathLst>
              <a:path h="7527714" w="12190630">
                <a:moveTo>
                  <a:pt x="0" y="0"/>
                </a:moveTo>
                <a:lnTo>
                  <a:pt x="12190630" y="0"/>
                </a:lnTo>
                <a:lnTo>
                  <a:pt x="12190630" y="7527714"/>
                </a:lnTo>
                <a:lnTo>
                  <a:pt x="0" y="75277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819570" y="-66675"/>
            <a:ext cx="8648859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335472"/>
                </a:solidFill>
                <a:latin typeface="Poppins Bold"/>
                <a:ea typeface="Poppins Bold"/>
                <a:cs typeface="Poppins Bold"/>
                <a:sym typeface="Poppins Bold"/>
              </a:rPr>
              <a:t>FAÇADE</a:t>
            </a:r>
          </a:p>
        </p:txBody>
      </p:sp>
    </p:spTree>
  </p:cSld>
  <p:clrMapOvr>
    <a:masterClrMapping/>
  </p:clrMapOvr>
  <p:transition spd="fast">
    <p:wipe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1926184">
            <a:off x="11324747" y="3881531"/>
            <a:ext cx="11670605" cy="6726512"/>
          </a:xfrm>
          <a:custGeom>
            <a:avLst/>
            <a:gdLst/>
            <a:ahLst/>
            <a:cxnLst/>
            <a:rect r="r" b="b" t="t" l="l"/>
            <a:pathLst>
              <a:path h="6726512" w="11670605">
                <a:moveTo>
                  <a:pt x="11670605" y="6726512"/>
                </a:moveTo>
                <a:lnTo>
                  <a:pt x="0" y="6726512"/>
                </a:lnTo>
                <a:lnTo>
                  <a:pt x="0" y="0"/>
                </a:lnTo>
                <a:lnTo>
                  <a:pt x="11670605" y="0"/>
                </a:lnTo>
                <a:lnTo>
                  <a:pt x="11670605" y="672651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217787">
            <a:off x="-4076239" y="-3363256"/>
            <a:ext cx="11670605" cy="6726512"/>
          </a:xfrm>
          <a:custGeom>
            <a:avLst/>
            <a:gdLst/>
            <a:ahLst/>
            <a:cxnLst/>
            <a:rect r="r" b="b" t="t" l="l"/>
            <a:pathLst>
              <a:path h="6726512" w="11670605">
                <a:moveTo>
                  <a:pt x="11670605" y="6726512"/>
                </a:moveTo>
                <a:lnTo>
                  <a:pt x="0" y="6726512"/>
                </a:lnTo>
                <a:lnTo>
                  <a:pt x="0" y="0"/>
                </a:lnTo>
                <a:lnTo>
                  <a:pt x="11670605" y="0"/>
                </a:lnTo>
                <a:lnTo>
                  <a:pt x="11670605" y="672651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277459" y="5512540"/>
            <a:ext cx="5516300" cy="5526535"/>
          </a:xfrm>
          <a:custGeom>
            <a:avLst/>
            <a:gdLst/>
            <a:ahLst/>
            <a:cxnLst/>
            <a:rect r="r" b="b" t="t" l="l"/>
            <a:pathLst>
              <a:path h="5526535" w="5516300">
                <a:moveTo>
                  <a:pt x="0" y="0"/>
                </a:moveTo>
                <a:lnTo>
                  <a:pt x="5516300" y="0"/>
                </a:lnTo>
                <a:lnTo>
                  <a:pt x="5516300" y="5526535"/>
                </a:lnTo>
                <a:lnTo>
                  <a:pt x="0" y="55265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886326" y="-1468609"/>
            <a:ext cx="5516300" cy="5526535"/>
          </a:xfrm>
          <a:custGeom>
            <a:avLst/>
            <a:gdLst/>
            <a:ahLst/>
            <a:cxnLst/>
            <a:rect r="r" b="b" t="t" l="l"/>
            <a:pathLst>
              <a:path h="5526535" w="5516300">
                <a:moveTo>
                  <a:pt x="0" y="0"/>
                </a:moveTo>
                <a:lnTo>
                  <a:pt x="5516301" y="0"/>
                </a:lnTo>
                <a:lnTo>
                  <a:pt x="5516301" y="5526534"/>
                </a:lnTo>
                <a:lnTo>
                  <a:pt x="0" y="55265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713090" y="1525640"/>
            <a:ext cx="6698988" cy="7732660"/>
          </a:xfrm>
          <a:custGeom>
            <a:avLst/>
            <a:gdLst/>
            <a:ahLst/>
            <a:cxnLst/>
            <a:rect r="r" b="b" t="t" l="l"/>
            <a:pathLst>
              <a:path h="7732660" w="6698988">
                <a:moveTo>
                  <a:pt x="0" y="0"/>
                </a:moveTo>
                <a:lnTo>
                  <a:pt x="6698988" y="0"/>
                </a:lnTo>
                <a:lnTo>
                  <a:pt x="6698988" y="7732660"/>
                </a:lnTo>
                <a:lnTo>
                  <a:pt x="0" y="773266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819570" y="-66675"/>
            <a:ext cx="8648859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335472"/>
                </a:solidFill>
                <a:latin typeface="Poppins Bold"/>
                <a:ea typeface="Poppins Bold"/>
                <a:cs typeface="Poppins Bold"/>
                <a:sym typeface="Poppins Bold"/>
              </a:rPr>
              <a:t>TEMPLATE</a:t>
            </a:r>
          </a:p>
        </p:txBody>
      </p:sp>
    </p:spTree>
  </p:cSld>
  <p:clrMapOvr>
    <a:masterClrMapping/>
  </p:clrMapOvr>
  <p:transition spd="fast">
    <p:wipe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1926184">
            <a:off x="11324747" y="3881531"/>
            <a:ext cx="11670605" cy="6726512"/>
          </a:xfrm>
          <a:custGeom>
            <a:avLst/>
            <a:gdLst/>
            <a:ahLst/>
            <a:cxnLst/>
            <a:rect r="r" b="b" t="t" l="l"/>
            <a:pathLst>
              <a:path h="6726512" w="11670605">
                <a:moveTo>
                  <a:pt x="11670605" y="6726512"/>
                </a:moveTo>
                <a:lnTo>
                  <a:pt x="0" y="6726512"/>
                </a:lnTo>
                <a:lnTo>
                  <a:pt x="0" y="0"/>
                </a:lnTo>
                <a:lnTo>
                  <a:pt x="11670605" y="0"/>
                </a:lnTo>
                <a:lnTo>
                  <a:pt x="11670605" y="672651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217787">
            <a:off x="-4076239" y="-3363256"/>
            <a:ext cx="11670605" cy="6726512"/>
          </a:xfrm>
          <a:custGeom>
            <a:avLst/>
            <a:gdLst/>
            <a:ahLst/>
            <a:cxnLst/>
            <a:rect r="r" b="b" t="t" l="l"/>
            <a:pathLst>
              <a:path h="6726512" w="11670605">
                <a:moveTo>
                  <a:pt x="11670605" y="6726512"/>
                </a:moveTo>
                <a:lnTo>
                  <a:pt x="0" y="6726512"/>
                </a:lnTo>
                <a:lnTo>
                  <a:pt x="0" y="0"/>
                </a:lnTo>
                <a:lnTo>
                  <a:pt x="11670605" y="0"/>
                </a:lnTo>
                <a:lnTo>
                  <a:pt x="11670605" y="672651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277459" y="5512540"/>
            <a:ext cx="5516300" cy="5526535"/>
          </a:xfrm>
          <a:custGeom>
            <a:avLst/>
            <a:gdLst/>
            <a:ahLst/>
            <a:cxnLst/>
            <a:rect r="r" b="b" t="t" l="l"/>
            <a:pathLst>
              <a:path h="5526535" w="5516300">
                <a:moveTo>
                  <a:pt x="0" y="0"/>
                </a:moveTo>
                <a:lnTo>
                  <a:pt x="5516300" y="0"/>
                </a:lnTo>
                <a:lnTo>
                  <a:pt x="5516300" y="5526535"/>
                </a:lnTo>
                <a:lnTo>
                  <a:pt x="0" y="55265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886326" y="-1468609"/>
            <a:ext cx="5516300" cy="5526535"/>
          </a:xfrm>
          <a:custGeom>
            <a:avLst/>
            <a:gdLst/>
            <a:ahLst/>
            <a:cxnLst/>
            <a:rect r="r" b="b" t="t" l="l"/>
            <a:pathLst>
              <a:path h="5526535" w="5516300">
                <a:moveTo>
                  <a:pt x="0" y="0"/>
                </a:moveTo>
                <a:lnTo>
                  <a:pt x="5516301" y="0"/>
                </a:lnTo>
                <a:lnTo>
                  <a:pt x="5516301" y="5526534"/>
                </a:lnTo>
                <a:lnTo>
                  <a:pt x="0" y="55265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850306" y="3214144"/>
            <a:ext cx="12424556" cy="4030643"/>
          </a:xfrm>
          <a:custGeom>
            <a:avLst/>
            <a:gdLst/>
            <a:ahLst/>
            <a:cxnLst/>
            <a:rect r="r" b="b" t="t" l="l"/>
            <a:pathLst>
              <a:path h="4030643" w="12424556">
                <a:moveTo>
                  <a:pt x="0" y="0"/>
                </a:moveTo>
                <a:lnTo>
                  <a:pt x="12424556" y="0"/>
                </a:lnTo>
                <a:lnTo>
                  <a:pt x="12424556" y="4030643"/>
                </a:lnTo>
                <a:lnTo>
                  <a:pt x="0" y="40306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819570" y="-66675"/>
            <a:ext cx="8648859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335472"/>
                </a:solidFill>
                <a:latin typeface="Poppins Bold"/>
                <a:ea typeface="Poppins Bold"/>
                <a:cs typeface="Poppins Bold"/>
                <a:sym typeface="Poppins Bold"/>
              </a:rPr>
              <a:t>OBSERVER</a:t>
            </a:r>
          </a:p>
        </p:txBody>
      </p:sp>
    </p:spTree>
  </p:cSld>
  <p:clrMapOvr>
    <a:masterClrMapping/>
  </p:clrMapOvr>
  <p:transition spd="fast">
    <p:wipe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1926184">
            <a:off x="11324747" y="3881531"/>
            <a:ext cx="11670605" cy="6726512"/>
          </a:xfrm>
          <a:custGeom>
            <a:avLst/>
            <a:gdLst/>
            <a:ahLst/>
            <a:cxnLst/>
            <a:rect r="r" b="b" t="t" l="l"/>
            <a:pathLst>
              <a:path h="6726512" w="11670605">
                <a:moveTo>
                  <a:pt x="11670605" y="6726512"/>
                </a:moveTo>
                <a:lnTo>
                  <a:pt x="0" y="6726512"/>
                </a:lnTo>
                <a:lnTo>
                  <a:pt x="0" y="0"/>
                </a:lnTo>
                <a:lnTo>
                  <a:pt x="11670605" y="0"/>
                </a:lnTo>
                <a:lnTo>
                  <a:pt x="11670605" y="672651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217787">
            <a:off x="-4076239" y="-3363256"/>
            <a:ext cx="11670605" cy="6726512"/>
          </a:xfrm>
          <a:custGeom>
            <a:avLst/>
            <a:gdLst/>
            <a:ahLst/>
            <a:cxnLst/>
            <a:rect r="r" b="b" t="t" l="l"/>
            <a:pathLst>
              <a:path h="6726512" w="11670605">
                <a:moveTo>
                  <a:pt x="11670605" y="6726512"/>
                </a:moveTo>
                <a:lnTo>
                  <a:pt x="0" y="6726512"/>
                </a:lnTo>
                <a:lnTo>
                  <a:pt x="0" y="0"/>
                </a:lnTo>
                <a:lnTo>
                  <a:pt x="11670605" y="0"/>
                </a:lnTo>
                <a:lnTo>
                  <a:pt x="11670605" y="672651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277459" y="5512540"/>
            <a:ext cx="5516300" cy="5526535"/>
          </a:xfrm>
          <a:custGeom>
            <a:avLst/>
            <a:gdLst/>
            <a:ahLst/>
            <a:cxnLst/>
            <a:rect r="r" b="b" t="t" l="l"/>
            <a:pathLst>
              <a:path h="5526535" w="5516300">
                <a:moveTo>
                  <a:pt x="0" y="0"/>
                </a:moveTo>
                <a:lnTo>
                  <a:pt x="5516300" y="0"/>
                </a:lnTo>
                <a:lnTo>
                  <a:pt x="5516300" y="5526535"/>
                </a:lnTo>
                <a:lnTo>
                  <a:pt x="0" y="55265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886326" y="-1468609"/>
            <a:ext cx="5516300" cy="5526535"/>
          </a:xfrm>
          <a:custGeom>
            <a:avLst/>
            <a:gdLst/>
            <a:ahLst/>
            <a:cxnLst/>
            <a:rect r="r" b="b" t="t" l="l"/>
            <a:pathLst>
              <a:path h="5526535" w="5516300">
                <a:moveTo>
                  <a:pt x="0" y="0"/>
                </a:moveTo>
                <a:lnTo>
                  <a:pt x="5516301" y="0"/>
                </a:lnTo>
                <a:lnTo>
                  <a:pt x="5516301" y="5526534"/>
                </a:lnTo>
                <a:lnTo>
                  <a:pt x="0" y="55265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375781" y="2026737"/>
            <a:ext cx="9373606" cy="6249071"/>
          </a:xfrm>
          <a:custGeom>
            <a:avLst/>
            <a:gdLst/>
            <a:ahLst/>
            <a:cxnLst/>
            <a:rect r="r" b="b" t="t" l="l"/>
            <a:pathLst>
              <a:path h="6249071" w="9373606">
                <a:moveTo>
                  <a:pt x="0" y="0"/>
                </a:moveTo>
                <a:lnTo>
                  <a:pt x="9373606" y="0"/>
                </a:lnTo>
                <a:lnTo>
                  <a:pt x="9373606" y="6249071"/>
                </a:lnTo>
                <a:lnTo>
                  <a:pt x="0" y="62490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819570" y="-66675"/>
            <a:ext cx="8648859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335472"/>
                </a:solidFill>
                <a:latin typeface="Poppins Bold"/>
                <a:ea typeface="Poppins Bold"/>
                <a:cs typeface="Poppins Bold"/>
                <a:sym typeface="Poppins Bold"/>
              </a:rPr>
              <a:t>FACTORY + PROXY</a:t>
            </a:r>
          </a:p>
        </p:txBody>
      </p:sp>
    </p:spTree>
  </p:cSld>
  <p:clrMapOvr>
    <a:masterClrMapping/>
  </p:clrMapOvr>
  <p:transition spd="fast">
    <p:wipe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1926184">
            <a:off x="11324747" y="3881531"/>
            <a:ext cx="11670605" cy="6726512"/>
          </a:xfrm>
          <a:custGeom>
            <a:avLst/>
            <a:gdLst/>
            <a:ahLst/>
            <a:cxnLst/>
            <a:rect r="r" b="b" t="t" l="l"/>
            <a:pathLst>
              <a:path h="6726512" w="11670605">
                <a:moveTo>
                  <a:pt x="11670605" y="6726512"/>
                </a:moveTo>
                <a:lnTo>
                  <a:pt x="0" y="6726512"/>
                </a:lnTo>
                <a:lnTo>
                  <a:pt x="0" y="0"/>
                </a:lnTo>
                <a:lnTo>
                  <a:pt x="11670605" y="0"/>
                </a:lnTo>
                <a:lnTo>
                  <a:pt x="11670605" y="672651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217787">
            <a:off x="-4076239" y="-3363256"/>
            <a:ext cx="11670605" cy="6726512"/>
          </a:xfrm>
          <a:custGeom>
            <a:avLst/>
            <a:gdLst/>
            <a:ahLst/>
            <a:cxnLst/>
            <a:rect r="r" b="b" t="t" l="l"/>
            <a:pathLst>
              <a:path h="6726512" w="11670605">
                <a:moveTo>
                  <a:pt x="11670605" y="6726512"/>
                </a:moveTo>
                <a:lnTo>
                  <a:pt x="0" y="6726512"/>
                </a:lnTo>
                <a:lnTo>
                  <a:pt x="0" y="0"/>
                </a:lnTo>
                <a:lnTo>
                  <a:pt x="11670605" y="0"/>
                </a:lnTo>
                <a:lnTo>
                  <a:pt x="11670605" y="672651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277459" y="5512540"/>
            <a:ext cx="5516300" cy="5526535"/>
          </a:xfrm>
          <a:custGeom>
            <a:avLst/>
            <a:gdLst/>
            <a:ahLst/>
            <a:cxnLst/>
            <a:rect r="r" b="b" t="t" l="l"/>
            <a:pathLst>
              <a:path h="5526535" w="5516300">
                <a:moveTo>
                  <a:pt x="0" y="0"/>
                </a:moveTo>
                <a:lnTo>
                  <a:pt x="5516300" y="0"/>
                </a:lnTo>
                <a:lnTo>
                  <a:pt x="5516300" y="5526535"/>
                </a:lnTo>
                <a:lnTo>
                  <a:pt x="0" y="55265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886326" y="-1468609"/>
            <a:ext cx="5516300" cy="5526535"/>
          </a:xfrm>
          <a:custGeom>
            <a:avLst/>
            <a:gdLst/>
            <a:ahLst/>
            <a:cxnLst/>
            <a:rect r="r" b="b" t="t" l="l"/>
            <a:pathLst>
              <a:path h="5526535" w="5516300">
                <a:moveTo>
                  <a:pt x="0" y="0"/>
                </a:moveTo>
                <a:lnTo>
                  <a:pt x="5516301" y="0"/>
                </a:lnTo>
                <a:lnTo>
                  <a:pt x="5516301" y="5526534"/>
                </a:lnTo>
                <a:lnTo>
                  <a:pt x="0" y="55265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997301" y="2395659"/>
            <a:ext cx="12130565" cy="6233763"/>
          </a:xfrm>
          <a:custGeom>
            <a:avLst/>
            <a:gdLst/>
            <a:ahLst/>
            <a:cxnLst/>
            <a:rect r="r" b="b" t="t" l="l"/>
            <a:pathLst>
              <a:path h="6233763" w="12130565">
                <a:moveTo>
                  <a:pt x="0" y="0"/>
                </a:moveTo>
                <a:lnTo>
                  <a:pt x="12130566" y="0"/>
                </a:lnTo>
                <a:lnTo>
                  <a:pt x="12130566" y="6233763"/>
                </a:lnTo>
                <a:lnTo>
                  <a:pt x="0" y="62337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819570" y="-66675"/>
            <a:ext cx="8648859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335472"/>
                </a:solidFill>
                <a:latin typeface="Poppins Bold"/>
                <a:ea typeface="Poppins Bold"/>
                <a:cs typeface="Poppins Bold"/>
                <a:sym typeface="Poppins Bold"/>
              </a:rPr>
              <a:t>DAO</a:t>
            </a:r>
          </a:p>
        </p:txBody>
      </p:sp>
    </p:spTree>
  </p:cSld>
  <p:clrMapOvr>
    <a:masterClrMapping/>
  </p:clrMapOvr>
  <p:transition spd="fast">
    <p:wipe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1926184">
            <a:off x="11324747" y="3881531"/>
            <a:ext cx="11670605" cy="6726512"/>
          </a:xfrm>
          <a:custGeom>
            <a:avLst/>
            <a:gdLst/>
            <a:ahLst/>
            <a:cxnLst/>
            <a:rect r="r" b="b" t="t" l="l"/>
            <a:pathLst>
              <a:path h="6726512" w="11670605">
                <a:moveTo>
                  <a:pt x="11670605" y="6726512"/>
                </a:moveTo>
                <a:lnTo>
                  <a:pt x="0" y="6726512"/>
                </a:lnTo>
                <a:lnTo>
                  <a:pt x="0" y="0"/>
                </a:lnTo>
                <a:lnTo>
                  <a:pt x="11670605" y="0"/>
                </a:lnTo>
                <a:lnTo>
                  <a:pt x="11670605" y="672651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217787">
            <a:off x="-4076239" y="-3363256"/>
            <a:ext cx="11670605" cy="6726512"/>
          </a:xfrm>
          <a:custGeom>
            <a:avLst/>
            <a:gdLst/>
            <a:ahLst/>
            <a:cxnLst/>
            <a:rect r="r" b="b" t="t" l="l"/>
            <a:pathLst>
              <a:path h="6726512" w="11670605">
                <a:moveTo>
                  <a:pt x="11670605" y="6726512"/>
                </a:moveTo>
                <a:lnTo>
                  <a:pt x="0" y="6726512"/>
                </a:lnTo>
                <a:lnTo>
                  <a:pt x="0" y="0"/>
                </a:lnTo>
                <a:lnTo>
                  <a:pt x="11670605" y="0"/>
                </a:lnTo>
                <a:lnTo>
                  <a:pt x="11670605" y="672651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277459" y="5512540"/>
            <a:ext cx="5516300" cy="5526535"/>
          </a:xfrm>
          <a:custGeom>
            <a:avLst/>
            <a:gdLst/>
            <a:ahLst/>
            <a:cxnLst/>
            <a:rect r="r" b="b" t="t" l="l"/>
            <a:pathLst>
              <a:path h="5526535" w="5516300">
                <a:moveTo>
                  <a:pt x="0" y="0"/>
                </a:moveTo>
                <a:lnTo>
                  <a:pt x="5516300" y="0"/>
                </a:lnTo>
                <a:lnTo>
                  <a:pt x="5516300" y="5526535"/>
                </a:lnTo>
                <a:lnTo>
                  <a:pt x="0" y="55265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886326" y="-1468609"/>
            <a:ext cx="5516300" cy="5526535"/>
          </a:xfrm>
          <a:custGeom>
            <a:avLst/>
            <a:gdLst/>
            <a:ahLst/>
            <a:cxnLst/>
            <a:rect r="r" b="b" t="t" l="l"/>
            <a:pathLst>
              <a:path h="5526535" w="5516300">
                <a:moveTo>
                  <a:pt x="0" y="0"/>
                </a:moveTo>
                <a:lnTo>
                  <a:pt x="5516301" y="0"/>
                </a:lnTo>
                <a:lnTo>
                  <a:pt x="5516301" y="5526534"/>
                </a:lnTo>
                <a:lnTo>
                  <a:pt x="0" y="55265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224105" y="2959547"/>
            <a:ext cx="9839790" cy="4367907"/>
          </a:xfrm>
          <a:custGeom>
            <a:avLst/>
            <a:gdLst/>
            <a:ahLst/>
            <a:cxnLst/>
            <a:rect r="r" b="b" t="t" l="l"/>
            <a:pathLst>
              <a:path h="4367907" w="9839790">
                <a:moveTo>
                  <a:pt x="0" y="0"/>
                </a:moveTo>
                <a:lnTo>
                  <a:pt x="9839790" y="0"/>
                </a:lnTo>
                <a:lnTo>
                  <a:pt x="9839790" y="4367906"/>
                </a:lnTo>
                <a:lnTo>
                  <a:pt x="0" y="43679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819570" y="-66675"/>
            <a:ext cx="8648859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335472"/>
                </a:solidFill>
                <a:latin typeface="Poppins Bold"/>
                <a:ea typeface="Poppins Bold"/>
                <a:cs typeface="Poppins Bold"/>
                <a:sym typeface="Poppins Bold"/>
              </a:rPr>
              <a:t>SINGLETON*</a:t>
            </a:r>
          </a:p>
        </p:txBody>
      </p:sp>
    </p:spTree>
  </p:cSld>
  <p:clrMapOvr>
    <a:masterClrMapping/>
  </p:clrMapOvr>
  <p:transition spd="fast">
    <p:wipe dir="l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1926184">
            <a:off x="11324747" y="3881531"/>
            <a:ext cx="11670605" cy="6726512"/>
          </a:xfrm>
          <a:custGeom>
            <a:avLst/>
            <a:gdLst/>
            <a:ahLst/>
            <a:cxnLst/>
            <a:rect r="r" b="b" t="t" l="l"/>
            <a:pathLst>
              <a:path h="6726512" w="11670605">
                <a:moveTo>
                  <a:pt x="11670605" y="6726512"/>
                </a:moveTo>
                <a:lnTo>
                  <a:pt x="0" y="6726512"/>
                </a:lnTo>
                <a:lnTo>
                  <a:pt x="0" y="0"/>
                </a:lnTo>
                <a:lnTo>
                  <a:pt x="11670605" y="0"/>
                </a:lnTo>
                <a:lnTo>
                  <a:pt x="11670605" y="672651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217787">
            <a:off x="-4076239" y="-3363256"/>
            <a:ext cx="11670605" cy="6726512"/>
          </a:xfrm>
          <a:custGeom>
            <a:avLst/>
            <a:gdLst/>
            <a:ahLst/>
            <a:cxnLst/>
            <a:rect r="r" b="b" t="t" l="l"/>
            <a:pathLst>
              <a:path h="6726512" w="11670605">
                <a:moveTo>
                  <a:pt x="11670605" y="6726512"/>
                </a:moveTo>
                <a:lnTo>
                  <a:pt x="0" y="6726512"/>
                </a:lnTo>
                <a:lnTo>
                  <a:pt x="0" y="0"/>
                </a:lnTo>
                <a:lnTo>
                  <a:pt x="11670605" y="0"/>
                </a:lnTo>
                <a:lnTo>
                  <a:pt x="11670605" y="672651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277459" y="5512540"/>
            <a:ext cx="5516300" cy="5526535"/>
          </a:xfrm>
          <a:custGeom>
            <a:avLst/>
            <a:gdLst/>
            <a:ahLst/>
            <a:cxnLst/>
            <a:rect r="r" b="b" t="t" l="l"/>
            <a:pathLst>
              <a:path h="5526535" w="5516300">
                <a:moveTo>
                  <a:pt x="0" y="0"/>
                </a:moveTo>
                <a:lnTo>
                  <a:pt x="5516300" y="0"/>
                </a:lnTo>
                <a:lnTo>
                  <a:pt x="5516300" y="5526535"/>
                </a:lnTo>
                <a:lnTo>
                  <a:pt x="0" y="55265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886326" y="-1468609"/>
            <a:ext cx="5516300" cy="5526535"/>
          </a:xfrm>
          <a:custGeom>
            <a:avLst/>
            <a:gdLst/>
            <a:ahLst/>
            <a:cxnLst/>
            <a:rect r="r" b="b" t="t" l="l"/>
            <a:pathLst>
              <a:path h="5526535" w="5516300">
                <a:moveTo>
                  <a:pt x="0" y="0"/>
                </a:moveTo>
                <a:lnTo>
                  <a:pt x="5516301" y="0"/>
                </a:lnTo>
                <a:lnTo>
                  <a:pt x="5516301" y="5526534"/>
                </a:lnTo>
                <a:lnTo>
                  <a:pt x="0" y="55265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276962" y="2351556"/>
            <a:ext cx="9734075" cy="5583888"/>
          </a:xfrm>
          <a:custGeom>
            <a:avLst/>
            <a:gdLst/>
            <a:ahLst/>
            <a:cxnLst/>
            <a:rect r="r" b="b" t="t" l="l"/>
            <a:pathLst>
              <a:path h="5583888" w="9734075">
                <a:moveTo>
                  <a:pt x="0" y="0"/>
                </a:moveTo>
                <a:lnTo>
                  <a:pt x="9734076" y="0"/>
                </a:lnTo>
                <a:lnTo>
                  <a:pt x="9734076" y="5583888"/>
                </a:lnTo>
                <a:lnTo>
                  <a:pt x="0" y="55838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819570" y="-66675"/>
            <a:ext cx="8648859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335472"/>
                </a:solidFill>
                <a:latin typeface="Poppins Bold"/>
                <a:ea typeface="Poppins Bold"/>
                <a:cs typeface="Poppins Bold"/>
                <a:sym typeface="Poppins Bold"/>
              </a:rPr>
              <a:t>STATE</a:t>
            </a:r>
          </a:p>
        </p:txBody>
      </p:sp>
    </p:spTree>
  </p:cSld>
  <p:clrMapOvr>
    <a:masterClrMapping/>
  </p:clrMapOvr>
  <p:transition spd="fast">
    <p:wipe dir="l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1926184">
            <a:off x="11324747" y="3881531"/>
            <a:ext cx="11670605" cy="6726512"/>
          </a:xfrm>
          <a:custGeom>
            <a:avLst/>
            <a:gdLst/>
            <a:ahLst/>
            <a:cxnLst/>
            <a:rect r="r" b="b" t="t" l="l"/>
            <a:pathLst>
              <a:path h="6726512" w="11670605">
                <a:moveTo>
                  <a:pt x="11670605" y="6726512"/>
                </a:moveTo>
                <a:lnTo>
                  <a:pt x="0" y="6726512"/>
                </a:lnTo>
                <a:lnTo>
                  <a:pt x="0" y="0"/>
                </a:lnTo>
                <a:lnTo>
                  <a:pt x="11670605" y="0"/>
                </a:lnTo>
                <a:lnTo>
                  <a:pt x="11670605" y="672651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217787">
            <a:off x="-4076239" y="-3363256"/>
            <a:ext cx="11670605" cy="6726512"/>
          </a:xfrm>
          <a:custGeom>
            <a:avLst/>
            <a:gdLst/>
            <a:ahLst/>
            <a:cxnLst/>
            <a:rect r="r" b="b" t="t" l="l"/>
            <a:pathLst>
              <a:path h="6726512" w="11670605">
                <a:moveTo>
                  <a:pt x="11670605" y="6726512"/>
                </a:moveTo>
                <a:lnTo>
                  <a:pt x="0" y="6726512"/>
                </a:lnTo>
                <a:lnTo>
                  <a:pt x="0" y="0"/>
                </a:lnTo>
                <a:lnTo>
                  <a:pt x="11670605" y="0"/>
                </a:lnTo>
                <a:lnTo>
                  <a:pt x="11670605" y="672651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277459" y="5512540"/>
            <a:ext cx="5516300" cy="5526535"/>
          </a:xfrm>
          <a:custGeom>
            <a:avLst/>
            <a:gdLst/>
            <a:ahLst/>
            <a:cxnLst/>
            <a:rect r="r" b="b" t="t" l="l"/>
            <a:pathLst>
              <a:path h="5526535" w="5516300">
                <a:moveTo>
                  <a:pt x="0" y="0"/>
                </a:moveTo>
                <a:lnTo>
                  <a:pt x="5516300" y="0"/>
                </a:lnTo>
                <a:lnTo>
                  <a:pt x="5516300" y="5526535"/>
                </a:lnTo>
                <a:lnTo>
                  <a:pt x="0" y="55265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886326" y="-1468609"/>
            <a:ext cx="5516300" cy="5526535"/>
          </a:xfrm>
          <a:custGeom>
            <a:avLst/>
            <a:gdLst/>
            <a:ahLst/>
            <a:cxnLst/>
            <a:rect r="r" b="b" t="t" l="l"/>
            <a:pathLst>
              <a:path h="5526535" w="5516300">
                <a:moveTo>
                  <a:pt x="0" y="0"/>
                </a:moveTo>
                <a:lnTo>
                  <a:pt x="5516301" y="0"/>
                </a:lnTo>
                <a:lnTo>
                  <a:pt x="5516301" y="5526534"/>
                </a:lnTo>
                <a:lnTo>
                  <a:pt x="0" y="55265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742460" y="1816236"/>
            <a:ext cx="10803080" cy="7016434"/>
          </a:xfrm>
          <a:custGeom>
            <a:avLst/>
            <a:gdLst/>
            <a:ahLst/>
            <a:cxnLst/>
            <a:rect r="r" b="b" t="t" l="l"/>
            <a:pathLst>
              <a:path h="7016434" w="10803080">
                <a:moveTo>
                  <a:pt x="0" y="0"/>
                </a:moveTo>
                <a:lnTo>
                  <a:pt x="10803080" y="0"/>
                </a:lnTo>
                <a:lnTo>
                  <a:pt x="10803080" y="7016434"/>
                </a:lnTo>
                <a:lnTo>
                  <a:pt x="0" y="70164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819570" y="-66675"/>
            <a:ext cx="8648859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335472"/>
                </a:solidFill>
                <a:latin typeface="Poppins Bold"/>
                <a:ea typeface="Poppins Bold"/>
                <a:cs typeface="Poppins Bold"/>
                <a:sym typeface="Poppins Bold"/>
              </a:rPr>
              <a:t>STRATEGY</a:t>
            </a:r>
          </a:p>
        </p:txBody>
      </p:sp>
    </p:spTree>
  </p:cSld>
  <p:clrMapOvr>
    <a:masterClrMapping/>
  </p:clrMapOvr>
  <p:transition spd="fast">
    <p:wipe dir="l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1926184">
            <a:off x="11324747" y="3881531"/>
            <a:ext cx="11670605" cy="6726512"/>
          </a:xfrm>
          <a:custGeom>
            <a:avLst/>
            <a:gdLst/>
            <a:ahLst/>
            <a:cxnLst/>
            <a:rect r="r" b="b" t="t" l="l"/>
            <a:pathLst>
              <a:path h="6726512" w="11670605">
                <a:moveTo>
                  <a:pt x="11670605" y="6726512"/>
                </a:moveTo>
                <a:lnTo>
                  <a:pt x="0" y="6726512"/>
                </a:lnTo>
                <a:lnTo>
                  <a:pt x="0" y="0"/>
                </a:lnTo>
                <a:lnTo>
                  <a:pt x="11670605" y="0"/>
                </a:lnTo>
                <a:lnTo>
                  <a:pt x="11670605" y="672651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217787">
            <a:off x="-4076239" y="-3363256"/>
            <a:ext cx="11670605" cy="6726512"/>
          </a:xfrm>
          <a:custGeom>
            <a:avLst/>
            <a:gdLst/>
            <a:ahLst/>
            <a:cxnLst/>
            <a:rect r="r" b="b" t="t" l="l"/>
            <a:pathLst>
              <a:path h="6726512" w="11670605">
                <a:moveTo>
                  <a:pt x="11670605" y="6726512"/>
                </a:moveTo>
                <a:lnTo>
                  <a:pt x="0" y="6726512"/>
                </a:lnTo>
                <a:lnTo>
                  <a:pt x="0" y="0"/>
                </a:lnTo>
                <a:lnTo>
                  <a:pt x="11670605" y="0"/>
                </a:lnTo>
                <a:lnTo>
                  <a:pt x="11670605" y="672651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886326" y="-1468609"/>
            <a:ext cx="5516300" cy="5526535"/>
          </a:xfrm>
          <a:custGeom>
            <a:avLst/>
            <a:gdLst/>
            <a:ahLst/>
            <a:cxnLst/>
            <a:rect r="r" b="b" t="t" l="l"/>
            <a:pathLst>
              <a:path h="5526535" w="5516300">
                <a:moveTo>
                  <a:pt x="0" y="0"/>
                </a:moveTo>
                <a:lnTo>
                  <a:pt x="5516301" y="0"/>
                </a:lnTo>
                <a:lnTo>
                  <a:pt x="5516301" y="5526534"/>
                </a:lnTo>
                <a:lnTo>
                  <a:pt x="0" y="55265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861355" y="3094891"/>
            <a:ext cx="4617202" cy="2153085"/>
            <a:chOff x="0" y="0"/>
            <a:chExt cx="1216053" cy="5670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16053" cy="567068"/>
            </a:xfrm>
            <a:custGeom>
              <a:avLst/>
              <a:gdLst/>
              <a:ahLst/>
              <a:cxnLst/>
              <a:rect r="r" b="b" t="t" l="l"/>
              <a:pathLst>
                <a:path h="567068" w="1216053">
                  <a:moveTo>
                    <a:pt x="0" y="0"/>
                  </a:moveTo>
                  <a:lnTo>
                    <a:pt x="1216053" y="0"/>
                  </a:lnTo>
                  <a:lnTo>
                    <a:pt x="1216053" y="567068"/>
                  </a:lnTo>
                  <a:lnTo>
                    <a:pt x="0" y="567068"/>
                  </a:lnTo>
                  <a:close/>
                </a:path>
              </a:pathLst>
            </a:custGeom>
            <a:solidFill>
              <a:srgbClr val="D8E6F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216053" cy="595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35399" y="3094891"/>
            <a:ext cx="4617202" cy="2153085"/>
            <a:chOff x="0" y="0"/>
            <a:chExt cx="1216053" cy="5670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16053" cy="567068"/>
            </a:xfrm>
            <a:custGeom>
              <a:avLst/>
              <a:gdLst/>
              <a:ahLst/>
              <a:cxnLst/>
              <a:rect r="r" b="b" t="t" l="l"/>
              <a:pathLst>
                <a:path h="567068" w="1216053">
                  <a:moveTo>
                    <a:pt x="0" y="0"/>
                  </a:moveTo>
                  <a:lnTo>
                    <a:pt x="1216053" y="0"/>
                  </a:lnTo>
                  <a:lnTo>
                    <a:pt x="1216053" y="567068"/>
                  </a:lnTo>
                  <a:lnTo>
                    <a:pt x="0" y="567068"/>
                  </a:lnTo>
                  <a:close/>
                </a:path>
              </a:pathLst>
            </a:custGeom>
            <a:solidFill>
              <a:srgbClr val="D8E6F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216053" cy="595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608365" y="3012650"/>
            <a:ext cx="5958341" cy="4852498"/>
            <a:chOff x="0" y="0"/>
            <a:chExt cx="7944455" cy="6469997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6156270" cy="3020333"/>
              <a:chOff x="0" y="0"/>
              <a:chExt cx="1216053" cy="596609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216053" cy="596609"/>
              </a:xfrm>
              <a:custGeom>
                <a:avLst/>
                <a:gdLst/>
                <a:ahLst/>
                <a:cxnLst/>
                <a:rect r="r" b="b" t="t" l="l"/>
                <a:pathLst>
                  <a:path h="596609" w="1216053">
                    <a:moveTo>
                      <a:pt x="0" y="0"/>
                    </a:moveTo>
                    <a:lnTo>
                      <a:pt x="1216053" y="0"/>
                    </a:lnTo>
                    <a:lnTo>
                      <a:pt x="1216053" y="596609"/>
                    </a:lnTo>
                    <a:lnTo>
                      <a:pt x="0" y="596609"/>
                    </a:lnTo>
                    <a:close/>
                  </a:path>
                </a:pathLst>
              </a:custGeom>
              <a:solidFill>
                <a:srgbClr val="D8E6F4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28575"/>
                <a:ext cx="1216053" cy="62518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sp>
          <p:nvSpPr>
            <p:cNvPr name="Freeform 15" id="15"/>
            <p:cNvSpPr/>
            <p:nvPr/>
          </p:nvSpPr>
          <p:spPr>
            <a:xfrm flipH="true" flipV="false" rot="7689152">
              <a:off x="4895820" y="2921688"/>
              <a:ext cx="2520899" cy="2567583"/>
            </a:xfrm>
            <a:custGeom>
              <a:avLst/>
              <a:gdLst/>
              <a:ahLst/>
              <a:cxnLst/>
              <a:rect r="r" b="b" t="t" l="l"/>
              <a:pathLst>
                <a:path h="2567583" w="2520899">
                  <a:moveTo>
                    <a:pt x="2520899" y="0"/>
                  </a:moveTo>
                  <a:lnTo>
                    <a:pt x="0" y="0"/>
                  </a:lnTo>
                  <a:lnTo>
                    <a:pt x="0" y="2567582"/>
                  </a:lnTo>
                  <a:lnTo>
                    <a:pt x="2520899" y="2567582"/>
                  </a:lnTo>
                  <a:lnTo>
                    <a:pt x="2520899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 rot="0">
              <a:off x="390036" y="185060"/>
              <a:ext cx="5376197" cy="13161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47"/>
                </a:lnSpc>
              </a:pPr>
              <a:r>
                <a:rPr lang="en-US" b="true" sz="2891">
                  <a:solidFill>
                    <a:srgbClr val="335472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OPEN/CLOSED PRINCIPLE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390036" y="1462541"/>
              <a:ext cx="5376197" cy="16061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46"/>
                </a:lnSpc>
              </a:pPr>
              <a:r>
                <a:rPr lang="en-US" sz="2318">
                  <a:solidFill>
                    <a:srgbClr val="335472"/>
                  </a:solidFill>
                  <a:latin typeface="Open Sans"/>
                  <a:ea typeface="Open Sans"/>
                  <a:cs typeface="Open Sans"/>
                  <a:sym typeface="Open Sans"/>
                </a:rPr>
                <a:t>Architettura aperta all’estensione e chiusa alla modifica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2359410" y="5954804"/>
              <a:ext cx="5376197" cy="5151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46"/>
                </a:lnSpc>
              </a:pPr>
              <a:r>
                <a:rPr lang="en-US" sz="2318" b="true">
                  <a:solidFill>
                    <a:srgbClr val="335472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Pattern Strategy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3411922" y="5809950"/>
            <a:ext cx="11464157" cy="3773835"/>
            <a:chOff x="0" y="0"/>
            <a:chExt cx="15285542" cy="5031780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1163880" y="0"/>
              <a:ext cx="6156270" cy="2870779"/>
              <a:chOff x="0" y="0"/>
              <a:chExt cx="1216053" cy="567068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216053" cy="567068"/>
              </a:xfrm>
              <a:custGeom>
                <a:avLst/>
                <a:gdLst/>
                <a:ahLst/>
                <a:cxnLst/>
                <a:rect r="r" b="b" t="t" l="l"/>
                <a:pathLst>
                  <a:path h="567068" w="1216053">
                    <a:moveTo>
                      <a:pt x="0" y="0"/>
                    </a:moveTo>
                    <a:lnTo>
                      <a:pt x="1216053" y="0"/>
                    </a:lnTo>
                    <a:lnTo>
                      <a:pt x="1216053" y="567068"/>
                    </a:lnTo>
                    <a:lnTo>
                      <a:pt x="0" y="567068"/>
                    </a:lnTo>
                    <a:close/>
                  </a:path>
                </a:pathLst>
              </a:custGeom>
              <a:solidFill>
                <a:srgbClr val="D8E6F4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28575"/>
                <a:ext cx="1216053" cy="59564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sp>
          <p:nvSpPr>
            <p:cNvPr name="Freeform 23" id="23"/>
            <p:cNvSpPr/>
            <p:nvPr/>
          </p:nvSpPr>
          <p:spPr>
            <a:xfrm flipH="false" flipV="false" rot="0">
              <a:off x="0" y="2027087"/>
              <a:ext cx="1553917" cy="2770909"/>
            </a:xfrm>
            <a:custGeom>
              <a:avLst/>
              <a:gdLst/>
              <a:ahLst/>
              <a:cxnLst/>
              <a:rect r="r" b="b" t="t" l="l"/>
              <a:pathLst>
                <a:path h="2770909" w="1553917">
                  <a:moveTo>
                    <a:pt x="0" y="0"/>
                  </a:moveTo>
                  <a:lnTo>
                    <a:pt x="1553917" y="0"/>
                  </a:lnTo>
                  <a:lnTo>
                    <a:pt x="1553917" y="2770909"/>
                  </a:lnTo>
                  <a:lnTo>
                    <a:pt x="0" y="27709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 rot="0">
              <a:off x="1553917" y="-57150"/>
              <a:ext cx="5376197" cy="13161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47"/>
                </a:lnSpc>
              </a:pPr>
              <a:r>
                <a:rPr lang="en-US" b="true" sz="2891">
                  <a:solidFill>
                    <a:srgbClr val="335472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DEPENDENCY INVERSION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1163880" y="1264646"/>
              <a:ext cx="6156270" cy="16061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46"/>
                </a:lnSpc>
              </a:pPr>
              <a:r>
                <a:rPr lang="en-US" sz="2318">
                  <a:solidFill>
                    <a:srgbClr val="335472"/>
                  </a:solidFill>
                  <a:latin typeface="Open Sans"/>
                  <a:ea typeface="Open Sans"/>
                  <a:cs typeface="Open Sans"/>
                  <a:sym typeface="Open Sans"/>
                </a:rPr>
                <a:t>I moduli di alto livello dipendono da astrazioni e non da implementazioni concrete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449000" y="4516587"/>
              <a:ext cx="5376197" cy="5151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46"/>
                </a:lnSpc>
              </a:pPr>
              <a:r>
                <a:rPr lang="en-US" sz="2318" b="true">
                  <a:solidFill>
                    <a:srgbClr val="335472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Pattern Observer</a:t>
              </a:r>
            </a:p>
          </p:txBody>
        </p:sp>
        <p:sp>
          <p:nvSpPr>
            <p:cNvPr name="Freeform 27" id="27"/>
            <p:cNvSpPr/>
            <p:nvPr/>
          </p:nvSpPr>
          <p:spPr>
            <a:xfrm flipH="false" flipV="true" rot="9576307">
              <a:off x="7364223" y="1609392"/>
              <a:ext cx="1553917" cy="2770909"/>
            </a:xfrm>
            <a:custGeom>
              <a:avLst/>
              <a:gdLst/>
              <a:ahLst/>
              <a:cxnLst/>
              <a:rect r="r" b="b" t="t" l="l"/>
              <a:pathLst>
                <a:path h="2770909" w="1553917">
                  <a:moveTo>
                    <a:pt x="0" y="2770909"/>
                  </a:moveTo>
                  <a:lnTo>
                    <a:pt x="1553917" y="2770909"/>
                  </a:lnTo>
                  <a:lnTo>
                    <a:pt x="1553917" y="0"/>
                  </a:lnTo>
                  <a:lnTo>
                    <a:pt x="0" y="0"/>
                  </a:lnTo>
                  <a:lnTo>
                    <a:pt x="0" y="2770909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 rot="0">
              <a:off x="5033325" y="4282803"/>
              <a:ext cx="5376197" cy="5151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46"/>
                </a:lnSpc>
              </a:pPr>
              <a:r>
                <a:rPr lang="en-US" sz="2318" b="true">
                  <a:solidFill>
                    <a:srgbClr val="335472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Pattern DAO</a:t>
              </a:r>
            </a:p>
          </p:txBody>
        </p:sp>
        <p:grpSp>
          <p:nvGrpSpPr>
            <p:cNvPr name="Group 29" id="29"/>
            <p:cNvGrpSpPr/>
            <p:nvPr/>
          </p:nvGrpSpPr>
          <p:grpSpPr>
            <a:xfrm rot="0">
              <a:off x="9129273" y="124067"/>
              <a:ext cx="6156270" cy="2870779"/>
              <a:chOff x="0" y="0"/>
              <a:chExt cx="1216053" cy="567068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1216053" cy="567068"/>
              </a:xfrm>
              <a:custGeom>
                <a:avLst/>
                <a:gdLst/>
                <a:ahLst/>
                <a:cxnLst/>
                <a:rect r="r" b="b" t="t" l="l"/>
                <a:pathLst>
                  <a:path h="567068" w="1216053">
                    <a:moveTo>
                      <a:pt x="0" y="0"/>
                    </a:moveTo>
                    <a:lnTo>
                      <a:pt x="1216053" y="0"/>
                    </a:lnTo>
                    <a:lnTo>
                      <a:pt x="1216053" y="567068"/>
                    </a:lnTo>
                    <a:lnTo>
                      <a:pt x="0" y="567068"/>
                    </a:lnTo>
                    <a:close/>
                  </a:path>
                </a:pathLst>
              </a:custGeom>
              <a:solidFill>
                <a:srgbClr val="D8E6F4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28575"/>
                <a:ext cx="1216053" cy="59564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9304920" y="121354"/>
              <a:ext cx="5804975" cy="14381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394"/>
                </a:lnSpc>
              </a:pPr>
              <a:r>
                <a:rPr lang="en-US" b="true" sz="3138">
                  <a:solidFill>
                    <a:srgbClr val="335472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YAGNI: YOU AIN’T GONNA NEED IT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9129273" y="1377856"/>
              <a:ext cx="6156270" cy="16061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46"/>
                </a:lnSpc>
              </a:pPr>
              <a:r>
                <a:rPr lang="en-US" sz="2318">
                  <a:solidFill>
                    <a:srgbClr val="335472"/>
                  </a:solidFill>
                  <a:latin typeface="Open Sans"/>
                  <a:ea typeface="Open Sans"/>
                  <a:cs typeface="Open Sans"/>
                  <a:sym typeface="Open Sans"/>
                </a:rPr>
                <a:t>Sviluppo solo delle funzionalità necessarie, evitando complessità superflue</a:t>
              </a: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0">
            <a:off x="10684763" y="4608750"/>
            <a:ext cx="767838" cy="639225"/>
          </a:xfrm>
          <a:custGeom>
            <a:avLst/>
            <a:gdLst/>
            <a:ahLst/>
            <a:cxnLst/>
            <a:rect r="r" b="b" t="t" l="l"/>
            <a:pathLst>
              <a:path h="639225" w="767838">
                <a:moveTo>
                  <a:pt x="0" y="0"/>
                </a:moveTo>
                <a:lnTo>
                  <a:pt x="767838" y="0"/>
                </a:lnTo>
                <a:lnTo>
                  <a:pt x="767838" y="639225"/>
                </a:lnTo>
                <a:lnTo>
                  <a:pt x="0" y="6392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2177351">
            <a:off x="15908118" y="3026201"/>
            <a:ext cx="1956417" cy="627083"/>
          </a:xfrm>
          <a:custGeom>
            <a:avLst/>
            <a:gdLst/>
            <a:ahLst/>
            <a:cxnLst/>
            <a:rect r="r" b="b" t="t" l="l"/>
            <a:pathLst>
              <a:path h="627083" w="1956417">
                <a:moveTo>
                  <a:pt x="0" y="0"/>
                </a:moveTo>
                <a:lnTo>
                  <a:pt x="1956417" y="0"/>
                </a:lnTo>
                <a:lnTo>
                  <a:pt x="1956417" y="627083"/>
                </a:lnTo>
                <a:lnTo>
                  <a:pt x="0" y="62708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-29474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3569776" y="459968"/>
            <a:ext cx="11148448" cy="2162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335472"/>
                </a:solidFill>
                <a:latin typeface="Poppins Bold"/>
                <a:ea typeface="Poppins Bold"/>
                <a:cs typeface="Poppins Bold"/>
                <a:sym typeface="Poppins Bold"/>
              </a:rPr>
              <a:t>PRINCIPI DI BUONA PROGETTAZIONE SEGUITI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53882" y="3056516"/>
            <a:ext cx="4032148" cy="1001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47"/>
              </a:lnSpc>
            </a:pPr>
            <a:r>
              <a:rPr lang="en-US" b="true" sz="2891">
                <a:solidFill>
                  <a:srgbClr val="33547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SEPARAZIONE DELLE RESPONSABILITÀ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53882" y="4123808"/>
            <a:ext cx="4032148" cy="807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6"/>
              </a:lnSpc>
            </a:pPr>
            <a:r>
              <a:rPr lang="en-US" sz="2318">
                <a:solidFill>
                  <a:srgbClr val="335472"/>
                </a:solidFill>
                <a:latin typeface="Open Sans"/>
                <a:ea typeface="Open Sans"/>
                <a:cs typeface="Open Sans"/>
                <a:sym typeface="Open Sans"/>
              </a:rPr>
              <a:t>Divisione tra logica, accesso ai dati e interfaccia utente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835399" y="3192076"/>
            <a:ext cx="4353731" cy="1092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4"/>
              </a:lnSpc>
            </a:pPr>
            <a:r>
              <a:rPr lang="en-US" b="true" sz="3138">
                <a:solidFill>
                  <a:srgbClr val="33547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DRY: DON’T REPEAT YOURSELF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127926" y="4237316"/>
            <a:ext cx="4032148" cy="807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6"/>
              </a:lnSpc>
            </a:pPr>
            <a:r>
              <a:rPr lang="en-US" sz="2318">
                <a:solidFill>
                  <a:srgbClr val="335472"/>
                </a:solidFill>
                <a:latin typeface="Open Sans"/>
                <a:ea typeface="Open Sans"/>
                <a:cs typeface="Open Sans"/>
                <a:sym typeface="Open Sans"/>
              </a:rPr>
              <a:t>Riuso dei controller per viste FXML simili </a:t>
            </a:r>
          </a:p>
        </p:txBody>
      </p:sp>
    </p:spTree>
  </p:cSld>
  <p:clrMapOvr>
    <a:masterClrMapping/>
  </p:clrMapOvr>
  <p:transition spd="fast">
    <p:wipe dir="l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1926184">
            <a:off x="11324747" y="3881531"/>
            <a:ext cx="11670605" cy="6726512"/>
          </a:xfrm>
          <a:custGeom>
            <a:avLst/>
            <a:gdLst/>
            <a:ahLst/>
            <a:cxnLst/>
            <a:rect r="r" b="b" t="t" l="l"/>
            <a:pathLst>
              <a:path h="6726512" w="11670605">
                <a:moveTo>
                  <a:pt x="11670605" y="6726512"/>
                </a:moveTo>
                <a:lnTo>
                  <a:pt x="0" y="6726512"/>
                </a:lnTo>
                <a:lnTo>
                  <a:pt x="0" y="0"/>
                </a:lnTo>
                <a:lnTo>
                  <a:pt x="11670605" y="0"/>
                </a:lnTo>
                <a:lnTo>
                  <a:pt x="11670605" y="672651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217787">
            <a:off x="-4076239" y="-3363256"/>
            <a:ext cx="11670605" cy="6726512"/>
          </a:xfrm>
          <a:custGeom>
            <a:avLst/>
            <a:gdLst/>
            <a:ahLst/>
            <a:cxnLst/>
            <a:rect r="r" b="b" t="t" l="l"/>
            <a:pathLst>
              <a:path h="6726512" w="11670605">
                <a:moveTo>
                  <a:pt x="11670605" y="6726512"/>
                </a:moveTo>
                <a:lnTo>
                  <a:pt x="0" y="6726512"/>
                </a:lnTo>
                <a:lnTo>
                  <a:pt x="0" y="0"/>
                </a:lnTo>
                <a:lnTo>
                  <a:pt x="11670605" y="0"/>
                </a:lnTo>
                <a:lnTo>
                  <a:pt x="11670605" y="672651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277459" y="5512540"/>
            <a:ext cx="5516300" cy="5526535"/>
          </a:xfrm>
          <a:custGeom>
            <a:avLst/>
            <a:gdLst/>
            <a:ahLst/>
            <a:cxnLst/>
            <a:rect r="r" b="b" t="t" l="l"/>
            <a:pathLst>
              <a:path h="5526535" w="5516300">
                <a:moveTo>
                  <a:pt x="0" y="0"/>
                </a:moveTo>
                <a:lnTo>
                  <a:pt x="5516300" y="0"/>
                </a:lnTo>
                <a:lnTo>
                  <a:pt x="5516300" y="5526535"/>
                </a:lnTo>
                <a:lnTo>
                  <a:pt x="0" y="55265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886326" y="-1468609"/>
            <a:ext cx="5516300" cy="5526535"/>
          </a:xfrm>
          <a:custGeom>
            <a:avLst/>
            <a:gdLst/>
            <a:ahLst/>
            <a:cxnLst/>
            <a:rect r="r" b="b" t="t" l="l"/>
            <a:pathLst>
              <a:path h="5526535" w="5516300">
                <a:moveTo>
                  <a:pt x="0" y="0"/>
                </a:moveTo>
                <a:lnTo>
                  <a:pt x="5516301" y="0"/>
                </a:lnTo>
                <a:lnTo>
                  <a:pt x="5516301" y="5526534"/>
                </a:lnTo>
                <a:lnTo>
                  <a:pt x="0" y="55265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252417" y="1992027"/>
            <a:ext cx="11240825" cy="7443249"/>
          </a:xfrm>
          <a:custGeom>
            <a:avLst/>
            <a:gdLst/>
            <a:ahLst/>
            <a:cxnLst/>
            <a:rect r="r" b="b" t="t" l="l"/>
            <a:pathLst>
              <a:path h="7443249" w="11240825">
                <a:moveTo>
                  <a:pt x="0" y="0"/>
                </a:moveTo>
                <a:lnTo>
                  <a:pt x="11240825" y="0"/>
                </a:lnTo>
                <a:lnTo>
                  <a:pt x="11240825" y="7443249"/>
                </a:lnTo>
                <a:lnTo>
                  <a:pt x="0" y="74432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819570" y="656483"/>
            <a:ext cx="8648859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335472"/>
                </a:solidFill>
                <a:latin typeface="Poppins Bold"/>
                <a:ea typeface="Poppins Bold"/>
                <a:cs typeface="Poppins Bold"/>
                <a:sym typeface="Poppins Bold"/>
              </a:rPr>
              <a:t> BURNDOWN CHART</a:t>
            </a:r>
          </a:p>
        </p:txBody>
      </p:sp>
    </p:spTree>
  </p:cSld>
  <p:clrMapOvr>
    <a:masterClrMapping/>
  </p:clrMapOvr>
  <p:transition spd="fast">
    <p:cover dir="d"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1926184">
            <a:off x="11324747" y="3881531"/>
            <a:ext cx="11670605" cy="6726512"/>
          </a:xfrm>
          <a:custGeom>
            <a:avLst/>
            <a:gdLst/>
            <a:ahLst/>
            <a:cxnLst/>
            <a:rect r="r" b="b" t="t" l="l"/>
            <a:pathLst>
              <a:path h="6726512" w="11670605">
                <a:moveTo>
                  <a:pt x="11670605" y="6726512"/>
                </a:moveTo>
                <a:lnTo>
                  <a:pt x="0" y="6726512"/>
                </a:lnTo>
                <a:lnTo>
                  <a:pt x="0" y="0"/>
                </a:lnTo>
                <a:lnTo>
                  <a:pt x="11670605" y="0"/>
                </a:lnTo>
                <a:lnTo>
                  <a:pt x="11670605" y="672651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217787">
            <a:off x="-4076239" y="-3363256"/>
            <a:ext cx="11670605" cy="6726512"/>
          </a:xfrm>
          <a:custGeom>
            <a:avLst/>
            <a:gdLst/>
            <a:ahLst/>
            <a:cxnLst/>
            <a:rect r="r" b="b" t="t" l="l"/>
            <a:pathLst>
              <a:path h="6726512" w="11670605">
                <a:moveTo>
                  <a:pt x="11670605" y="6726512"/>
                </a:moveTo>
                <a:lnTo>
                  <a:pt x="0" y="6726512"/>
                </a:lnTo>
                <a:lnTo>
                  <a:pt x="0" y="0"/>
                </a:lnTo>
                <a:lnTo>
                  <a:pt x="11670605" y="0"/>
                </a:lnTo>
                <a:lnTo>
                  <a:pt x="11670605" y="672651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277459" y="5512540"/>
            <a:ext cx="5516300" cy="5526535"/>
          </a:xfrm>
          <a:custGeom>
            <a:avLst/>
            <a:gdLst/>
            <a:ahLst/>
            <a:cxnLst/>
            <a:rect r="r" b="b" t="t" l="l"/>
            <a:pathLst>
              <a:path h="5526535" w="5516300">
                <a:moveTo>
                  <a:pt x="0" y="0"/>
                </a:moveTo>
                <a:lnTo>
                  <a:pt x="5516300" y="0"/>
                </a:lnTo>
                <a:lnTo>
                  <a:pt x="5516300" y="5526535"/>
                </a:lnTo>
                <a:lnTo>
                  <a:pt x="0" y="55265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886326" y="-1468609"/>
            <a:ext cx="5516300" cy="5526535"/>
          </a:xfrm>
          <a:custGeom>
            <a:avLst/>
            <a:gdLst/>
            <a:ahLst/>
            <a:cxnLst/>
            <a:rect r="r" b="b" t="t" l="l"/>
            <a:pathLst>
              <a:path h="5526535" w="5516300">
                <a:moveTo>
                  <a:pt x="0" y="0"/>
                </a:moveTo>
                <a:lnTo>
                  <a:pt x="5516301" y="0"/>
                </a:lnTo>
                <a:lnTo>
                  <a:pt x="5516301" y="5526534"/>
                </a:lnTo>
                <a:lnTo>
                  <a:pt x="0" y="55265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252417" y="1992027"/>
            <a:ext cx="11240825" cy="7443249"/>
          </a:xfrm>
          <a:custGeom>
            <a:avLst/>
            <a:gdLst/>
            <a:ahLst/>
            <a:cxnLst/>
            <a:rect r="r" b="b" t="t" l="l"/>
            <a:pathLst>
              <a:path h="7443249" w="11240825">
                <a:moveTo>
                  <a:pt x="0" y="0"/>
                </a:moveTo>
                <a:lnTo>
                  <a:pt x="11240825" y="0"/>
                </a:lnTo>
                <a:lnTo>
                  <a:pt x="11240825" y="7443249"/>
                </a:lnTo>
                <a:lnTo>
                  <a:pt x="0" y="74432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520085" y="3725939"/>
            <a:ext cx="2623915" cy="1273792"/>
          </a:xfrm>
          <a:custGeom>
            <a:avLst/>
            <a:gdLst/>
            <a:ahLst/>
            <a:cxnLst/>
            <a:rect r="r" b="b" t="t" l="l"/>
            <a:pathLst>
              <a:path h="1273792" w="2623915">
                <a:moveTo>
                  <a:pt x="0" y="0"/>
                </a:moveTo>
                <a:lnTo>
                  <a:pt x="2623915" y="0"/>
                </a:lnTo>
                <a:lnTo>
                  <a:pt x="2623915" y="1273792"/>
                </a:lnTo>
                <a:lnTo>
                  <a:pt x="0" y="127379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10021771" y="5143500"/>
            <a:ext cx="1871097" cy="908333"/>
          </a:xfrm>
          <a:custGeom>
            <a:avLst/>
            <a:gdLst/>
            <a:ahLst/>
            <a:cxnLst/>
            <a:rect r="r" b="b" t="t" l="l"/>
            <a:pathLst>
              <a:path h="908333" w="1871097">
                <a:moveTo>
                  <a:pt x="1871097" y="0"/>
                </a:moveTo>
                <a:lnTo>
                  <a:pt x="0" y="0"/>
                </a:lnTo>
                <a:lnTo>
                  <a:pt x="0" y="908333"/>
                </a:lnTo>
                <a:lnTo>
                  <a:pt x="1871097" y="908333"/>
                </a:lnTo>
                <a:lnTo>
                  <a:pt x="1871097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7256588" y="2206901"/>
            <a:ext cx="2501411" cy="1519038"/>
          </a:xfrm>
          <a:custGeom>
            <a:avLst/>
            <a:gdLst/>
            <a:ahLst/>
            <a:cxnLst/>
            <a:rect r="r" b="b" t="t" l="l"/>
            <a:pathLst>
              <a:path h="1519038" w="2501411">
                <a:moveTo>
                  <a:pt x="0" y="1519038"/>
                </a:moveTo>
                <a:lnTo>
                  <a:pt x="2501410" y="1519038"/>
                </a:lnTo>
                <a:lnTo>
                  <a:pt x="2501410" y="0"/>
                </a:lnTo>
                <a:lnTo>
                  <a:pt x="0" y="0"/>
                </a:lnTo>
                <a:lnTo>
                  <a:pt x="0" y="1519038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true" rot="0">
            <a:off x="11739026" y="6051833"/>
            <a:ext cx="2754216" cy="1091671"/>
          </a:xfrm>
          <a:custGeom>
            <a:avLst/>
            <a:gdLst/>
            <a:ahLst/>
            <a:cxnLst/>
            <a:rect r="r" b="b" t="t" l="l"/>
            <a:pathLst>
              <a:path h="1091671" w="2754216">
                <a:moveTo>
                  <a:pt x="0" y="1091671"/>
                </a:moveTo>
                <a:lnTo>
                  <a:pt x="2754216" y="1091671"/>
                </a:lnTo>
                <a:lnTo>
                  <a:pt x="2754216" y="0"/>
                </a:lnTo>
                <a:lnTo>
                  <a:pt x="0" y="0"/>
                </a:lnTo>
                <a:lnTo>
                  <a:pt x="0" y="1091671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819570" y="656483"/>
            <a:ext cx="8648859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335472"/>
                </a:solidFill>
                <a:latin typeface="Poppins Bold"/>
                <a:ea typeface="Poppins Bold"/>
                <a:cs typeface="Poppins Bold"/>
                <a:sym typeface="Poppins Bold"/>
              </a:rPr>
              <a:t> BURNDOWN CHART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757998" y="1713758"/>
            <a:ext cx="6045546" cy="160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2677" indent="-201338" lvl="1">
              <a:lnSpc>
                <a:spcPts val="2611"/>
              </a:lnSpc>
              <a:buFont typeface="Arial"/>
              <a:buChar char="•"/>
            </a:pPr>
            <a:r>
              <a:rPr lang="en-US" sz="1865">
                <a:solidFill>
                  <a:srgbClr val="335472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[TECH-1] Scomposizione MainController e ristrutturazione architettura package</a:t>
            </a:r>
          </a:p>
          <a:p>
            <a:pPr algn="l" marL="402677" indent="-201338" lvl="1">
              <a:lnSpc>
                <a:spcPts val="2611"/>
              </a:lnSpc>
              <a:buFont typeface="Arial"/>
              <a:buChar char="•"/>
            </a:pPr>
            <a:r>
              <a:rPr lang="en-US" sz="1865">
                <a:solidFill>
                  <a:srgbClr val="335472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[TECH-2] Unione tasto play/pause</a:t>
            </a:r>
          </a:p>
          <a:p>
            <a:pPr algn="l" marL="402677" indent="-201338" lvl="1">
              <a:lnSpc>
                <a:spcPts val="2611"/>
              </a:lnSpc>
              <a:buFont typeface="Arial"/>
              <a:buChar char="•"/>
            </a:pPr>
            <a:r>
              <a:rPr lang="en-US" sz="1865">
                <a:solidFill>
                  <a:srgbClr val="335472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[TECH-3] Creazione interfaccia ITrackContainer</a:t>
            </a:r>
          </a:p>
          <a:p>
            <a:pPr algn="ctr">
              <a:lnSpc>
                <a:spcPts val="2611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4493242" y="6712936"/>
            <a:ext cx="3691620" cy="1035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140" indent="-215570" lvl="1">
              <a:lnSpc>
                <a:spcPts val="2795"/>
              </a:lnSpc>
              <a:spcBef>
                <a:spcPct val="0"/>
              </a:spcBef>
              <a:buFont typeface="Arial"/>
              <a:buChar char="•"/>
            </a:pPr>
            <a:r>
              <a:rPr lang="en-US" sz="1996" strike="noStrike" u="none">
                <a:solidFill>
                  <a:srgbClr val="335472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TECH-4 Adattamento al pattern Factory</a:t>
            </a:r>
          </a:p>
          <a:p>
            <a:pPr algn="l" marL="431140" indent="-215570" lvl="1">
              <a:lnSpc>
                <a:spcPts val="2795"/>
              </a:lnSpc>
              <a:spcBef>
                <a:spcPct val="0"/>
              </a:spcBef>
              <a:buFont typeface="Arial"/>
              <a:buChar char="•"/>
            </a:pPr>
            <a:r>
              <a:rPr lang="en-US" sz="1996" strike="noStrike" u="none">
                <a:solidFill>
                  <a:srgbClr val="335472"/>
                </a:solidFill>
                <a:latin typeface="VAG Rounded Next Shine"/>
                <a:ea typeface="VAG Rounded Next Shine"/>
                <a:cs typeface="VAG Rounded Next Shine"/>
                <a:sym typeface="VAG Rounded Next Shine"/>
              </a:rPr>
              <a:t>TECH-5 Configurazione CSS</a:t>
            </a:r>
          </a:p>
        </p:txBody>
      </p:sp>
    </p:spTree>
  </p:cSld>
  <p:clrMapOvr>
    <a:masterClrMapping/>
  </p:clrMapOvr>
  <p:transition spd="fast">
    <p:wipe dir="l"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1926184">
            <a:off x="11324747" y="3881531"/>
            <a:ext cx="11670605" cy="6726512"/>
          </a:xfrm>
          <a:custGeom>
            <a:avLst/>
            <a:gdLst/>
            <a:ahLst/>
            <a:cxnLst/>
            <a:rect r="r" b="b" t="t" l="l"/>
            <a:pathLst>
              <a:path h="6726512" w="11670605">
                <a:moveTo>
                  <a:pt x="11670605" y="6726512"/>
                </a:moveTo>
                <a:lnTo>
                  <a:pt x="0" y="6726512"/>
                </a:lnTo>
                <a:lnTo>
                  <a:pt x="0" y="0"/>
                </a:lnTo>
                <a:lnTo>
                  <a:pt x="11670605" y="0"/>
                </a:lnTo>
                <a:lnTo>
                  <a:pt x="11670605" y="672651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217787">
            <a:off x="-4076239" y="-3363256"/>
            <a:ext cx="11670605" cy="6726512"/>
          </a:xfrm>
          <a:custGeom>
            <a:avLst/>
            <a:gdLst/>
            <a:ahLst/>
            <a:cxnLst/>
            <a:rect r="r" b="b" t="t" l="l"/>
            <a:pathLst>
              <a:path h="6726512" w="11670605">
                <a:moveTo>
                  <a:pt x="11670605" y="6726512"/>
                </a:moveTo>
                <a:lnTo>
                  <a:pt x="0" y="6726512"/>
                </a:lnTo>
                <a:lnTo>
                  <a:pt x="0" y="0"/>
                </a:lnTo>
                <a:lnTo>
                  <a:pt x="11670605" y="0"/>
                </a:lnTo>
                <a:lnTo>
                  <a:pt x="11670605" y="672651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277459" y="5512540"/>
            <a:ext cx="5516300" cy="5526535"/>
          </a:xfrm>
          <a:custGeom>
            <a:avLst/>
            <a:gdLst/>
            <a:ahLst/>
            <a:cxnLst/>
            <a:rect r="r" b="b" t="t" l="l"/>
            <a:pathLst>
              <a:path h="5526535" w="5516300">
                <a:moveTo>
                  <a:pt x="0" y="0"/>
                </a:moveTo>
                <a:lnTo>
                  <a:pt x="5516300" y="0"/>
                </a:lnTo>
                <a:lnTo>
                  <a:pt x="5516300" y="5526535"/>
                </a:lnTo>
                <a:lnTo>
                  <a:pt x="0" y="55265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886326" y="-1468609"/>
            <a:ext cx="5516300" cy="5526535"/>
          </a:xfrm>
          <a:custGeom>
            <a:avLst/>
            <a:gdLst/>
            <a:ahLst/>
            <a:cxnLst/>
            <a:rect r="r" b="b" t="t" l="l"/>
            <a:pathLst>
              <a:path h="5526535" w="5516300">
                <a:moveTo>
                  <a:pt x="0" y="0"/>
                </a:moveTo>
                <a:lnTo>
                  <a:pt x="5516301" y="0"/>
                </a:lnTo>
                <a:lnTo>
                  <a:pt x="5516301" y="5526534"/>
                </a:lnTo>
                <a:lnTo>
                  <a:pt x="0" y="55265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361891" y="2878780"/>
            <a:ext cx="13077116" cy="4994568"/>
          </a:xfrm>
          <a:custGeom>
            <a:avLst/>
            <a:gdLst/>
            <a:ahLst/>
            <a:cxnLst/>
            <a:rect r="r" b="b" t="t" l="l"/>
            <a:pathLst>
              <a:path h="4994568" w="13077116">
                <a:moveTo>
                  <a:pt x="0" y="0"/>
                </a:moveTo>
                <a:lnTo>
                  <a:pt x="13077116" y="0"/>
                </a:lnTo>
                <a:lnTo>
                  <a:pt x="13077116" y="4994568"/>
                </a:lnTo>
                <a:lnTo>
                  <a:pt x="0" y="49945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9312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443564" y="123083"/>
            <a:ext cx="11400872" cy="2162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335472"/>
                </a:solidFill>
                <a:latin typeface="Poppins Bold"/>
                <a:ea typeface="Poppins Bold"/>
                <a:cs typeface="Poppins Bold"/>
                <a:sym typeface="Poppins Bold"/>
              </a:rPr>
              <a:t>ANALISI DELLA QUALITÀ DEL SOFTWARE</a:t>
            </a:r>
          </a:p>
        </p:txBody>
      </p:sp>
    </p:spTree>
  </p:cSld>
  <p:clrMapOvr>
    <a:masterClrMapping/>
  </p:clrMapOvr>
  <p:transition spd="fast">
    <p:cover dir="d"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1926184">
            <a:off x="11324747" y="3881531"/>
            <a:ext cx="11670605" cy="6726512"/>
          </a:xfrm>
          <a:custGeom>
            <a:avLst/>
            <a:gdLst/>
            <a:ahLst/>
            <a:cxnLst/>
            <a:rect r="r" b="b" t="t" l="l"/>
            <a:pathLst>
              <a:path h="6726512" w="11670605">
                <a:moveTo>
                  <a:pt x="11670605" y="6726512"/>
                </a:moveTo>
                <a:lnTo>
                  <a:pt x="0" y="6726512"/>
                </a:lnTo>
                <a:lnTo>
                  <a:pt x="0" y="0"/>
                </a:lnTo>
                <a:lnTo>
                  <a:pt x="11670605" y="0"/>
                </a:lnTo>
                <a:lnTo>
                  <a:pt x="11670605" y="672651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217787">
            <a:off x="-4076239" y="-3363256"/>
            <a:ext cx="11670605" cy="6726512"/>
          </a:xfrm>
          <a:custGeom>
            <a:avLst/>
            <a:gdLst/>
            <a:ahLst/>
            <a:cxnLst/>
            <a:rect r="r" b="b" t="t" l="l"/>
            <a:pathLst>
              <a:path h="6726512" w="11670605">
                <a:moveTo>
                  <a:pt x="11670605" y="6726512"/>
                </a:moveTo>
                <a:lnTo>
                  <a:pt x="0" y="6726512"/>
                </a:lnTo>
                <a:lnTo>
                  <a:pt x="0" y="0"/>
                </a:lnTo>
                <a:lnTo>
                  <a:pt x="11670605" y="0"/>
                </a:lnTo>
                <a:lnTo>
                  <a:pt x="11670605" y="672651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277459" y="5512540"/>
            <a:ext cx="5516300" cy="5526535"/>
          </a:xfrm>
          <a:custGeom>
            <a:avLst/>
            <a:gdLst/>
            <a:ahLst/>
            <a:cxnLst/>
            <a:rect r="r" b="b" t="t" l="l"/>
            <a:pathLst>
              <a:path h="5526535" w="5516300">
                <a:moveTo>
                  <a:pt x="0" y="0"/>
                </a:moveTo>
                <a:lnTo>
                  <a:pt x="5516300" y="0"/>
                </a:lnTo>
                <a:lnTo>
                  <a:pt x="5516300" y="5526535"/>
                </a:lnTo>
                <a:lnTo>
                  <a:pt x="0" y="55265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886326" y="-1468609"/>
            <a:ext cx="5516300" cy="5526535"/>
          </a:xfrm>
          <a:custGeom>
            <a:avLst/>
            <a:gdLst/>
            <a:ahLst/>
            <a:cxnLst/>
            <a:rect r="r" b="b" t="t" l="l"/>
            <a:pathLst>
              <a:path h="5526535" w="5516300">
                <a:moveTo>
                  <a:pt x="0" y="0"/>
                </a:moveTo>
                <a:lnTo>
                  <a:pt x="5516301" y="0"/>
                </a:lnTo>
                <a:lnTo>
                  <a:pt x="5516301" y="5526534"/>
                </a:lnTo>
                <a:lnTo>
                  <a:pt x="0" y="55265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493371" y="156010"/>
            <a:ext cx="11400872" cy="2162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335472"/>
                </a:solidFill>
                <a:latin typeface="Poppins Bold"/>
                <a:ea typeface="Poppins Bold"/>
                <a:cs typeface="Poppins Bold"/>
                <a:sym typeface="Poppins Bold"/>
              </a:rPr>
              <a:t>ANALISI DELLA QUALITÀ DEL SOFTWARE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2345668" y="2936729"/>
            <a:ext cx="13109561" cy="5339079"/>
          </a:xfrm>
          <a:custGeom>
            <a:avLst/>
            <a:gdLst/>
            <a:ahLst/>
            <a:cxnLst/>
            <a:rect r="r" b="b" t="t" l="l"/>
            <a:pathLst>
              <a:path h="5339079" w="13109561">
                <a:moveTo>
                  <a:pt x="0" y="0"/>
                </a:moveTo>
                <a:lnTo>
                  <a:pt x="13109562" y="0"/>
                </a:lnTo>
                <a:lnTo>
                  <a:pt x="13109562" y="5339079"/>
                </a:lnTo>
                <a:lnTo>
                  <a:pt x="0" y="53390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0822" r="-298" b="0"/>
            </a:stretch>
          </a:blipFill>
        </p:spPr>
      </p:sp>
    </p:spTree>
  </p:cSld>
  <p:clrMapOvr>
    <a:masterClrMapping/>
  </p:clrMapOvr>
  <p:transition spd="fast">
    <p:cover dir="d"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1926184">
            <a:off x="11324747" y="3881531"/>
            <a:ext cx="11670605" cy="6726512"/>
          </a:xfrm>
          <a:custGeom>
            <a:avLst/>
            <a:gdLst/>
            <a:ahLst/>
            <a:cxnLst/>
            <a:rect r="r" b="b" t="t" l="l"/>
            <a:pathLst>
              <a:path h="6726512" w="11670605">
                <a:moveTo>
                  <a:pt x="11670605" y="6726512"/>
                </a:moveTo>
                <a:lnTo>
                  <a:pt x="0" y="6726512"/>
                </a:lnTo>
                <a:lnTo>
                  <a:pt x="0" y="0"/>
                </a:lnTo>
                <a:lnTo>
                  <a:pt x="11670605" y="0"/>
                </a:lnTo>
                <a:lnTo>
                  <a:pt x="11670605" y="672651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217787">
            <a:off x="-4076239" y="-3363256"/>
            <a:ext cx="11670605" cy="6726512"/>
          </a:xfrm>
          <a:custGeom>
            <a:avLst/>
            <a:gdLst/>
            <a:ahLst/>
            <a:cxnLst/>
            <a:rect r="r" b="b" t="t" l="l"/>
            <a:pathLst>
              <a:path h="6726512" w="11670605">
                <a:moveTo>
                  <a:pt x="11670605" y="6726512"/>
                </a:moveTo>
                <a:lnTo>
                  <a:pt x="0" y="6726512"/>
                </a:lnTo>
                <a:lnTo>
                  <a:pt x="0" y="0"/>
                </a:lnTo>
                <a:lnTo>
                  <a:pt x="11670605" y="0"/>
                </a:lnTo>
                <a:lnTo>
                  <a:pt x="11670605" y="672651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277459" y="5512540"/>
            <a:ext cx="5516300" cy="5526535"/>
          </a:xfrm>
          <a:custGeom>
            <a:avLst/>
            <a:gdLst/>
            <a:ahLst/>
            <a:cxnLst/>
            <a:rect r="r" b="b" t="t" l="l"/>
            <a:pathLst>
              <a:path h="5526535" w="5516300">
                <a:moveTo>
                  <a:pt x="0" y="0"/>
                </a:moveTo>
                <a:lnTo>
                  <a:pt x="5516300" y="0"/>
                </a:lnTo>
                <a:lnTo>
                  <a:pt x="5516300" y="5526535"/>
                </a:lnTo>
                <a:lnTo>
                  <a:pt x="0" y="55265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886326" y="-1468609"/>
            <a:ext cx="5516300" cy="5526535"/>
          </a:xfrm>
          <a:custGeom>
            <a:avLst/>
            <a:gdLst/>
            <a:ahLst/>
            <a:cxnLst/>
            <a:rect r="r" b="b" t="t" l="l"/>
            <a:pathLst>
              <a:path h="5526535" w="5516300">
                <a:moveTo>
                  <a:pt x="0" y="0"/>
                </a:moveTo>
                <a:lnTo>
                  <a:pt x="5516301" y="0"/>
                </a:lnTo>
                <a:lnTo>
                  <a:pt x="5516301" y="5526534"/>
                </a:lnTo>
                <a:lnTo>
                  <a:pt x="0" y="55265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390512" y="2291407"/>
            <a:ext cx="9506976" cy="5704186"/>
          </a:xfrm>
          <a:custGeom>
            <a:avLst/>
            <a:gdLst/>
            <a:ahLst/>
            <a:cxnLst/>
            <a:rect r="r" b="b" t="t" l="l"/>
            <a:pathLst>
              <a:path h="5704186" w="9506976">
                <a:moveTo>
                  <a:pt x="0" y="0"/>
                </a:moveTo>
                <a:lnTo>
                  <a:pt x="9506976" y="0"/>
                </a:lnTo>
                <a:lnTo>
                  <a:pt x="9506976" y="5704186"/>
                </a:lnTo>
                <a:lnTo>
                  <a:pt x="0" y="570418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068991" y="1113683"/>
            <a:ext cx="12150019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335472"/>
                </a:solidFill>
                <a:latin typeface="Poppins Bold"/>
                <a:ea typeface="Poppins Bold"/>
                <a:cs typeface="Poppins Bold"/>
                <a:sym typeface="Poppins Bold"/>
              </a:rPr>
              <a:t>ACCOPPIAMENTO VS COESIONE</a:t>
            </a:r>
          </a:p>
        </p:txBody>
      </p:sp>
    </p:spTree>
  </p:cSld>
  <p:clrMapOvr>
    <a:masterClrMapping/>
  </p:clrMapOvr>
  <p:transition spd="fast">
    <p:push dir="l"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1926184">
            <a:off x="11324747" y="3881531"/>
            <a:ext cx="11670605" cy="6726512"/>
          </a:xfrm>
          <a:custGeom>
            <a:avLst/>
            <a:gdLst/>
            <a:ahLst/>
            <a:cxnLst/>
            <a:rect r="r" b="b" t="t" l="l"/>
            <a:pathLst>
              <a:path h="6726512" w="11670605">
                <a:moveTo>
                  <a:pt x="11670605" y="6726512"/>
                </a:moveTo>
                <a:lnTo>
                  <a:pt x="0" y="6726512"/>
                </a:lnTo>
                <a:lnTo>
                  <a:pt x="0" y="0"/>
                </a:lnTo>
                <a:lnTo>
                  <a:pt x="11670605" y="0"/>
                </a:lnTo>
                <a:lnTo>
                  <a:pt x="11670605" y="672651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217787">
            <a:off x="-4076239" y="-3363256"/>
            <a:ext cx="11670605" cy="6726512"/>
          </a:xfrm>
          <a:custGeom>
            <a:avLst/>
            <a:gdLst/>
            <a:ahLst/>
            <a:cxnLst/>
            <a:rect r="r" b="b" t="t" l="l"/>
            <a:pathLst>
              <a:path h="6726512" w="11670605">
                <a:moveTo>
                  <a:pt x="11670605" y="6726512"/>
                </a:moveTo>
                <a:lnTo>
                  <a:pt x="0" y="6726512"/>
                </a:lnTo>
                <a:lnTo>
                  <a:pt x="0" y="0"/>
                </a:lnTo>
                <a:lnTo>
                  <a:pt x="11670605" y="0"/>
                </a:lnTo>
                <a:lnTo>
                  <a:pt x="11670605" y="672651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277459" y="5512540"/>
            <a:ext cx="5516300" cy="5526535"/>
          </a:xfrm>
          <a:custGeom>
            <a:avLst/>
            <a:gdLst/>
            <a:ahLst/>
            <a:cxnLst/>
            <a:rect r="r" b="b" t="t" l="l"/>
            <a:pathLst>
              <a:path h="5526535" w="5516300">
                <a:moveTo>
                  <a:pt x="0" y="0"/>
                </a:moveTo>
                <a:lnTo>
                  <a:pt x="5516300" y="0"/>
                </a:lnTo>
                <a:lnTo>
                  <a:pt x="5516300" y="5526535"/>
                </a:lnTo>
                <a:lnTo>
                  <a:pt x="0" y="55265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886326" y="-1468609"/>
            <a:ext cx="5516300" cy="5526535"/>
          </a:xfrm>
          <a:custGeom>
            <a:avLst/>
            <a:gdLst/>
            <a:ahLst/>
            <a:cxnLst/>
            <a:rect r="r" b="b" t="t" l="l"/>
            <a:pathLst>
              <a:path h="5526535" w="5516300">
                <a:moveTo>
                  <a:pt x="0" y="0"/>
                </a:moveTo>
                <a:lnTo>
                  <a:pt x="5516301" y="0"/>
                </a:lnTo>
                <a:lnTo>
                  <a:pt x="5516301" y="5526534"/>
                </a:lnTo>
                <a:lnTo>
                  <a:pt x="0" y="55265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309672" y="3695975"/>
            <a:ext cx="11668657" cy="2263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00"/>
              </a:lnSpc>
            </a:pPr>
            <a:r>
              <a:rPr lang="en-US" b="true" sz="12500">
                <a:solidFill>
                  <a:srgbClr val="335472"/>
                </a:solidFill>
                <a:latin typeface="Poppins Bold"/>
                <a:ea typeface="Poppins Bold"/>
                <a:cs typeface="Poppins Bold"/>
                <a:sym typeface="Poppins Bold"/>
              </a:rPr>
              <a:t>LIVE DEMO</a:t>
            </a:r>
          </a:p>
        </p:txBody>
      </p:sp>
    </p:spTree>
  </p:cSld>
  <p:clrMapOvr>
    <a:masterClrMapping/>
  </p:clrMapOvr>
  <p:transition spd="fast">
    <p:push dir="l"/>
  </p:transition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1926184">
            <a:off x="11324747" y="3881531"/>
            <a:ext cx="11670605" cy="6726512"/>
          </a:xfrm>
          <a:custGeom>
            <a:avLst/>
            <a:gdLst/>
            <a:ahLst/>
            <a:cxnLst/>
            <a:rect r="r" b="b" t="t" l="l"/>
            <a:pathLst>
              <a:path h="6726512" w="11670605">
                <a:moveTo>
                  <a:pt x="11670605" y="6726512"/>
                </a:moveTo>
                <a:lnTo>
                  <a:pt x="0" y="6726512"/>
                </a:lnTo>
                <a:lnTo>
                  <a:pt x="0" y="0"/>
                </a:lnTo>
                <a:lnTo>
                  <a:pt x="11670605" y="0"/>
                </a:lnTo>
                <a:lnTo>
                  <a:pt x="11670605" y="672651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217787">
            <a:off x="-4076239" y="-3363256"/>
            <a:ext cx="11670605" cy="6726512"/>
          </a:xfrm>
          <a:custGeom>
            <a:avLst/>
            <a:gdLst/>
            <a:ahLst/>
            <a:cxnLst/>
            <a:rect r="r" b="b" t="t" l="l"/>
            <a:pathLst>
              <a:path h="6726512" w="11670605">
                <a:moveTo>
                  <a:pt x="11670605" y="6726512"/>
                </a:moveTo>
                <a:lnTo>
                  <a:pt x="0" y="6726512"/>
                </a:lnTo>
                <a:lnTo>
                  <a:pt x="0" y="0"/>
                </a:lnTo>
                <a:lnTo>
                  <a:pt x="11670605" y="0"/>
                </a:lnTo>
                <a:lnTo>
                  <a:pt x="11670605" y="672651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277459" y="5512540"/>
            <a:ext cx="5516300" cy="5526535"/>
          </a:xfrm>
          <a:custGeom>
            <a:avLst/>
            <a:gdLst/>
            <a:ahLst/>
            <a:cxnLst/>
            <a:rect r="r" b="b" t="t" l="l"/>
            <a:pathLst>
              <a:path h="5526535" w="5516300">
                <a:moveTo>
                  <a:pt x="0" y="0"/>
                </a:moveTo>
                <a:lnTo>
                  <a:pt x="5516300" y="0"/>
                </a:lnTo>
                <a:lnTo>
                  <a:pt x="5516300" y="5526535"/>
                </a:lnTo>
                <a:lnTo>
                  <a:pt x="0" y="55265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886326" y="-1468609"/>
            <a:ext cx="5516300" cy="5526535"/>
          </a:xfrm>
          <a:custGeom>
            <a:avLst/>
            <a:gdLst/>
            <a:ahLst/>
            <a:cxnLst/>
            <a:rect r="r" b="b" t="t" l="l"/>
            <a:pathLst>
              <a:path h="5526535" w="5516300">
                <a:moveTo>
                  <a:pt x="0" y="0"/>
                </a:moveTo>
                <a:lnTo>
                  <a:pt x="5516301" y="0"/>
                </a:lnTo>
                <a:lnTo>
                  <a:pt x="5516301" y="5526534"/>
                </a:lnTo>
                <a:lnTo>
                  <a:pt x="0" y="55265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309672" y="3090016"/>
            <a:ext cx="11668657" cy="448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00"/>
              </a:lnSpc>
            </a:pPr>
            <a:r>
              <a:rPr lang="en-US" b="true" sz="12500">
                <a:solidFill>
                  <a:srgbClr val="335472"/>
                </a:solidFill>
                <a:latin typeface="Poppins Bold"/>
                <a:ea typeface="Poppins Bold"/>
                <a:cs typeface="Poppins Bold"/>
                <a:sym typeface="Poppins Bold"/>
              </a:rPr>
              <a:t>GRAZIE PER</a:t>
            </a:r>
          </a:p>
          <a:p>
            <a:pPr algn="ctr">
              <a:lnSpc>
                <a:spcPts val="17500"/>
              </a:lnSpc>
            </a:pPr>
            <a:r>
              <a:rPr lang="en-US" b="true" sz="12500">
                <a:solidFill>
                  <a:srgbClr val="335472"/>
                </a:solidFill>
                <a:latin typeface="Poppins Bold"/>
                <a:ea typeface="Poppins Bold"/>
                <a:cs typeface="Poppins Bold"/>
                <a:sym typeface="Poppins Bold"/>
              </a:rPr>
              <a:t>L’ATTENZIONE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DAHK47kVcmk</dc:identifier>
  <dcterms:modified xsi:type="dcterms:W3CDTF">2011-08-01T06:04:30Z</dcterms:modified>
  <cp:revision>1</cp:revision>
  <dc:title>Progetto SAD</dc:title>
</cp:coreProperties>
</file>